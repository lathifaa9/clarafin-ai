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60465aa96e43e2" /><Relationship Type="http://schemas.openxmlformats.org/officeDocument/2006/relationships/extended-properties" Target="/docProps/app.xml" Id="Rd1176be262e54cb5" /><Relationship Type="http://schemas.openxmlformats.org/officeDocument/2006/relationships/officeDocument" Target="/ppt/presentation.xml" Id="R2cdb634bd06d40d0" /></Relationships>
</file>

<file path=ppt/presentation.xml><?xml version="1.0" encoding="utf-8"?>
<p:presentation xmlns:p="http://schemas.openxmlformats.org/presentationml/2006/main">
  <p:sldMasterIdLst>
    <p:sldMasterId xmlns:r="http://schemas.openxmlformats.org/officeDocument/2006/relationships" id="2147483648" r:id="R5cd0024c21ad482a"/>
  </p:sldMasterIdLst>
  <p:notesMasterIdLst>
    <p:notesMasterId xmlns:r="http://schemas.openxmlformats.org/officeDocument/2006/relationships" r:id="Rcdc6d15dd65c438e"/>
  </p:notesMasterIdLst>
  <p:sldIdLst>
    <p:sldId xmlns:r="http://schemas.openxmlformats.org/officeDocument/2006/relationships" id="256" r:id="Rae53e81cbcfc4a57"/>
    <p:sldId xmlns:r="http://schemas.openxmlformats.org/officeDocument/2006/relationships" id="257" r:id="R606c78cb285e48ec"/>
    <p:sldId xmlns:r="http://schemas.openxmlformats.org/officeDocument/2006/relationships" id="258" r:id="Ra76dba264a4d4e10"/>
    <p:sldId xmlns:r="http://schemas.openxmlformats.org/officeDocument/2006/relationships" id="259" r:id="Rcc72ce094e7c4267"/>
    <p:sldId xmlns:r="http://schemas.openxmlformats.org/officeDocument/2006/relationships" id="260" r:id="R06f5cf1f36634d49"/>
    <p:sldId xmlns:r="http://schemas.openxmlformats.org/officeDocument/2006/relationships" id="261" r:id="R73616af66ed1491f"/>
    <p:sldId xmlns:r="http://schemas.openxmlformats.org/officeDocument/2006/relationships" id="262" r:id="R1903b8c932724a54"/>
    <p:sldId xmlns:r="http://schemas.openxmlformats.org/officeDocument/2006/relationships" id="263" r:id="R8999661c33aa4353"/>
    <p:sldId xmlns:r="http://schemas.openxmlformats.org/officeDocument/2006/relationships" id="264" r:id="Rc1994f7a613a4f00"/>
    <p:sldId xmlns:r="http://schemas.openxmlformats.org/officeDocument/2006/relationships" id="265" r:id="Rb795ef7003364829"/>
    <p:sldId xmlns:r="http://schemas.openxmlformats.org/officeDocument/2006/relationships" id="266" r:id="R44fff4668bef4767"/>
    <p:sldId xmlns:r="http://schemas.openxmlformats.org/officeDocument/2006/relationships" id="267" r:id="R5027f876b24e414b"/>
    <p:sldId xmlns:r="http://schemas.openxmlformats.org/officeDocument/2006/relationships" id="268" r:id="R0ce6db3883114f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90ce94a1c847e7" /><Relationship Type="http://schemas.openxmlformats.org/officeDocument/2006/relationships/slideMaster" Target="/ppt/slideMasters/slideMaster1.xml" Id="R5cd0024c21ad482a" /><Relationship Type="http://schemas.openxmlformats.org/officeDocument/2006/relationships/notesMaster" Target="/ppt/notesMasters/notesMaster1.xml" Id="Rcdc6d15dd65c438e" /><Relationship Type="http://schemas.openxmlformats.org/officeDocument/2006/relationships/presProps" Target="/ppt/presProps.xml" Id="R2dd5048273804e7e" /><Relationship Type="http://schemas.openxmlformats.org/officeDocument/2006/relationships/tableStyles" Target="/ppt/tableStyles.xml" Id="Rbdad99240e554568" /><Relationship Type="http://schemas.openxmlformats.org/officeDocument/2006/relationships/slide" Target="/ppt/slides/slide1.xml" Id="Rae53e81cbcfc4a57" /><Relationship Type="http://schemas.openxmlformats.org/officeDocument/2006/relationships/slide" Target="/ppt/slides/slide2.xml" Id="R606c78cb285e48ec" /><Relationship Type="http://schemas.openxmlformats.org/officeDocument/2006/relationships/slide" Target="/ppt/slides/slide3.xml" Id="Ra76dba264a4d4e10" /><Relationship Type="http://schemas.openxmlformats.org/officeDocument/2006/relationships/slide" Target="/ppt/slides/slide4.xml" Id="Rcc72ce094e7c4267" /><Relationship Type="http://schemas.openxmlformats.org/officeDocument/2006/relationships/slide" Target="/ppt/slides/slide5.xml" Id="R06f5cf1f36634d49" /><Relationship Type="http://schemas.openxmlformats.org/officeDocument/2006/relationships/slide" Target="/ppt/slides/slide6.xml" Id="R73616af66ed1491f" /><Relationship Type="http://schemas.openxmlformats.org/officeDocument/2006/relationships/slide" Target="/ppt/slides/slide7.xml" Id="R1903b8c932724a54" /><Relationship Type="http://schemas.openxmlformats.org/officeDocument/2006/relationships/slide" Target="/ppt/slides/slide8.xml" Id="R8999661c33aa4353" /><Relationship Type="http://schemas.openxmlformats.org/officeDocument/2006/relationships/slide" Target="/ppt/slides/slide9.xml" Id="Rc1994f7a613a4f00" /><Relationship Type="http://schemas.openxmlformats.org/officeDocument/2006/relationships/slide" Target="/ppt/slides/slide10.xml" Id="Rb795ef7003364829" /><Relationship Type="http://schemas.openxmlformats.org/officeDocument/2006/relationships/slide" Target="/ppt/slides/slide11.xml" Id="R44fff4668bef4767" /><Relationship Type="http://schemas.openxmlformats.org/officeDocument/2006/relationships/slide" Target="/ppt/slides/slide12.xml" Id="R5027f876b24e414b" /><Relationship Type="http://schemas.openxmlformats.org/officeDocument/2006/relationships/slide" Target="/ppt/slides/slide13.xml" Id="R0ce6db3883114f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b11dc0d76346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b6b5a5648e4be6" /><Relationship Type="http://schemas.openxmlformats.org/officeDocument/2006/relationships/notesMaster" Target="/ppt/notesMasters/notesMaster1.xml" Id="R37d02faeed2e46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9f10f8e0a741ad" /><Relationship Type="http://schemas.openxmlformats.org/officeDocument/2006/relationships/notesMaster" Target="/ppt/notesMasters/notesMaster1.xml" Id="R1ac23bb80521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236bf549624937" /><Relationship Type="http://schemas.openxmlformats.org/officeDocument/2006/relationships/notesMaster" Target="/ppt/notesMasters/notesMaster1.xml" Id="Rc49e53f859a748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44ab62b54e4f7a" /><Relationship Type="http://schemas.openxmlformats.org/officeDocument/2006/relationships/notesMaster" Target="/ppt/notesMasters/notesMaster1.xml" Id="Rea17de563c354d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d77572cdda4732" /><Relationship Type="http://schemas.openxmlformats.org/officeDocument/2006/relationships/notesMaster" Target="/ppt/notesMasters/notesMaster1.xml" Id="R0e13d62388a84d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bc19d8c4424009" /><Relationship Type="http://schemas.openxmlformats.org/officeDocument/2006/relationships/notesMaster" Target="/ppt/notesMasters/notesMaster1.xml" Id="R75b99e39a37049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8381e0bfd145a0" /><Relationship Type="http://schemas.openxmlformats.org/officeDocument/2006/relationships/notesMaster" Target="/ppt/notesMasters/notesMaster1.xml" Id="R8db2aee4675a4f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55f9ff8c8544fa" /><Relationship Type="http://schemas.openxmlformats.org/officeDocument/2006/relationships/notesMaster" Target="/ppt/notesMasters/notesMaster1.xml" Id="R6afa2275c5184b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fbe7fe34144ff0" /><Relationship Type="http://schemas.openxmlformats.org/officeDocument/2006/relationships/notesMaster" Target="/ppt/notesMasters/notesMaster1.xml" Id="Rc7e7842de0a848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6e3066c9ff4885" /><Relationship Type="http://schemas.openxmlformats.org/officeDocument/2006/relationships/notesMaster" Target="/ppt/notesMasters/notesMaster1.xml" Id="R5425e2c3e01749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53d6d2616041d0" /><Relationship Type="http://schemas.openxmlformats.org/officeDocument/2006/relationships/notesMaster" Target="/ppt/notesMasters/notesMaster1.xml" Id="R0eeb1ead57d944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958cbdfba1417d" /><Relationship Type="http://schemas.openxmlformats.org/officeDocument/2006/relationships/notesMaster" Target="/ppt/notesMasters/notesMaster1.xml" Id="R3a5da5285b3e44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fc81dff7974f6d" /><Relationship Type="http://schemas.openxmlformats.org/officeDocument/2006/relationships/notesMaster" Target="/ppt/notesMasters/notesMaster1.xml" Id="Rdd24e143460849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a:t>
            </a:r>
          </a:p>
          <a:p xmlns:a="http://schemas.openxmlformats.org/drawingml/2006/main">
            <a:r>
              <a:t/>
            </a:r>
          </a:p>
          <a:p xmlns:a="http://schemas.openxmlformats.org/drawingml/2006/main">
            <a:r>
              <a:t>Welcome everyone. We are presenting Clarafin, a financial-document intelligence workspace designed for SMEs. The central idea is simple: turn scattered finance files into a clear, evidence-backed understanding of the business.</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a:t>
            </a:r>
          </a:p>
          <a:p xmlns:a="http://schemas.openxmlformats.org/drawingml/2006/main">
            <a:r>
              <a:t/>
            </a:r>
          </a:p>
          <a:p xmlns:a="http://schemas.openxmlformats.org/drawingml/2006/main">
            <a:r>
              <a:t>Small and medium businesses often already possess the key financial records. The challenge is that the records are fragmented, analysis is manual, and conclusions are hard to validate. Clarafin focuses on the gap between having documents and having decision-ready insight.</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a:t>
            </a:r>
          </a:p>
          <a:p xmlns:a="http://schemas.openxmlformats.org/drawingml/2006/main">
            <a:r>
              <a:t/>
            </a:r>
          </a:p>
          <a:p xmlns:a="http://schemas.openxmlformats.org/drawingml/2006/main">
            <a:r>
              <a:t>Clarafin creates a structured flow from ingestion through reasoning to evidence. The important product principle is grounded analysis: when the documents do not support an answer, the product says so instead of guessing.</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a:t>
            </a:r>
          </a:p>
          <a:p xmlns:a="http://schemas.openxmlformats.org/drawingml/2006/main">
            <a:r>
              <a:t/>
            </a:r>
          </a:p>
          <a:p xmlns:a="http://schemas.openxmlformats.org/drawingml/2006/main">
            <a:r>
              <a:t>This is the end-to-end user journey. A user signs in, uploads documents, chooses the relevant set, and triggers analysis. The workspace then returns a clear review of the current state, gaps, risks, and the citations that support every finding.</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a:t>
            </a:r>
          </a:p>
          <a:p xmlns:a="http://schemas.openxmlformats.org/drawingml/2006/main">
            <a:r>
              <a:t/>
            </a:r>
          </a:p>
          <a:p xmlns:a="http://schemas.openxmlformats.org/drawingml/2006/main">
            <a:r>
              <a:t>The solution uses a React frontend for the workspace and a FastAPI backend for protected operations. Documents are parsed into usable content, routed through retrieval and context-building, and then sent to the AI analysis layer. SQLite stores the core application records.</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a:t>
            </a:r>
          </a:p>
          <a:p xmlns:a="http://schemas.openxmlformats.org/drawingml/2006/main">
            <a:r>
              <a:t/>
            </a:r>
          </a:p>
          <a:p xmlns:a="http://schemas.openxmlformats.org/drawingml/2006/main">
            <a:r>
              <a:t>The ingestion layer is designed around practical finance formats: PDF, CSV, XLSX, and XLS. It validates file type and size, records ownership, and builds a catalog the user can review before analysis. This gives the agent the correct boundary for every run.</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a:t>
            </a:r>
          </a:p>
          <a:p xmlns:a="http://schemas.openxmlformats.org/drawingml/2006/main">
            <a:r>
              <a:t/>
            </a:r>
          </a:p>
          <a:p xmlns:a="http://schemas.openxmlformats.org/drawingml/2006/main">
            <a:r>
              <a:t>The AI is not asked to make up a financial story. It receives context built from the selected documents and is instructed to ground every metric and observation in those sources. A key safety rule is explicit: when the information is missing, the product tells the user what cannot be determined.</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a:t>
            </a:r>
          </a:p>
          <a:p xmlns:a="http://schemas.openxmlformats.org/drawingml/2006/main">
            <a:r>
              <a:t/>
            </a:r>
          </a:p>
          <a:p xmlns:a="http://schemas.openxmlformats.org/drawingml/2006/main">
            <a:r>
              <a:t>A financial workspace must keep data scoped correctly. Clarafin protects API routes with JWT access tokens and filters documents and analyses by the authenticated user. We also resolved a reload issue by loading the configured signing key before authentication initializes, so valid user sessions remain stable across a backend reload.</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a:t>
            </a:r>
          </a:p>
          <a:p xmlns:a="http://schemas.openxmlformats.org/drawingml/2006/main">
            <a:r>
              <a:t/>
            </a:r>
          </a:p>
          <a:p xmlns:a="http://schemas.openxmlformats.org/drawingml/2006/main">
            <a:r>
              <a:t>The results screen organizes the output into four decision-focused areas: the current state, the gaps that stop us from being certain, forward-looking flags, and traceability. This helps users move from “what does this file say?” to “what should we review next?”</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a:t>
            </a:r>
          </a:p>
          <a:p xmlns:a="http://schemas.openxmlformats.org/drawingml/2006/main">
            <a:r>
              <a:t/>
            </a:r>
          </a:p>
          <a:p xmlns:a="http://schemas.openxmlformats.org/drawingml/2006/main">
            <a:r>
              <a:t>The technology choices prioritize speed of development and clarity. React and Vite give us a responsive frontend; FastAPI exposes typed APIs; SQLite keeps the prototype simple; and dedicated parsers support our document formats. The AI layer is configurable and can fall back gracefully when a key is unavailable.</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a:t>
            </a:r>
          </a:p>
          <a:p xmlns:a="http://schemas.openxmlformats.org/drawingml/2006/main">
            <a:r>
              <a:t/>
            </a:r>
          </a:p>
          <a:p xmlns:a="http://schemas.openxmlformats.org/drawingml/2006/main">
            <a:r>
              <a:t>For the live demo, we will use the demo account and upload a small but realistic document set. The audience should watch for the system to parse files, start analysis automatically, return a current-state insight, and clearly identify a gap when the documents cannot support a claim.</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a:t>
            </a:r>
          </a:p>
          <a:p xmlns:a="http://schemas.openxmlformats.org/drawingml/2006/main">
            <a:r>
              <a:t/>
            </a:r>
          </a:p>
          <a:p xmlns:a="http://schemas.openxmlformats.org/drawingml/2006/main">
            <a:r>
              <a:t>This slide is for the team. The presentation is divided into four connected sections. Each person has a clear narrative responsibility and can hand off naturally to the next presenter. Replace the presenter labels with your names before presenting.</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a:t>
            </a:r>
          </a:p>
          <a:p xmlns:a="http://schemas.openxmlformats.org/drawingml/2006/main">
            <a:r>
              <a:t/>
            </a:r>
          </a:p>
          <a:p xmlns:a="http://schemas.openxmlformats.org/drawingml/2006/main">
            <a:r>
              <a:t>To close, Clarafin gives SMEs an evidence-based way to understand financial documents. It combines familiar upload workflows with structured analysis, transparent gaps, and citations. We are ready to demonstrate the product and take questions.</a:t>
            </a:r>
          </a:p>
          <a:p xmlns:a="http://schemas.openxmlformats.org/drawingml/2006/main">
            <a:r>
              <a:t/>
            </a:r>
          </a:p>
          <a:p xmlns:a="http://schemas.openxmlformats.org/drawingml/2006/main">
            <a:r>
              <a:t>[Sources]</a:t>
            </a:r>
          </a:p>
          <a:p xmlns:a="http://schemas.openxmlformats.org/drawingml/2006/main">
            <a:r>
              <a:t>Project repository: Clarafin README, frontend/src/App.jsx, backend/main.py, backend/database.py.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71cf64732b4c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712c03ca7f4864" /><Relationship Type="http://schemas.openxmlformats.org/officeDocument/2006/relationships/slideLayout" Target="/ppt/slideLayouts/slideLayout1.xml" Id="R959445559a834d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9445559a834d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4989796c864a76" /><Relationship Type="http://schemas.openxmlformats.org/officeDocument/2006/relationships/notesSlide" Target="/ppt/notesSlides/notesSlide1.xml" Id="R0e766cfce59c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6c1debe810464b" /><Relationship Type="http://schemas.openxmlformats.org/officeDocument/2006/relationships/notesSlide" Target="/ppt/notesSlides/notesSlide2.xml" Id="Re4cc304b656a48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38665d686844b3" /><Relationship Type="http://schemas.openxmlformats.org/officeDocument/2006/relationships/notesSlide" Target="/ppt/notesSlides/notesSlide3.xml" Id="R62e398ac9dfb46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73fe154b134beb" /><Relationship Type="http://schemas.openxmlformats.org/officeDocument/2006/relationships/notesSlide" Target="/ppt/notesSlides/notesSlide4.xml" Id="Rd652f6adcbb941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566ca977354ed4" /><Relationship Type="http://schemas.openxmlformats.org/officeDocument/2006/relationships/notesSlide" Target="/ppt/notesSlides/notesSlide5.xml" Id="R7a0d6e2544724d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502887338046c4" /><Relationship Type="http://schemas.openxmlformats.org/officeDocument/2006/relationships/notesSlide" Target="/ppt/notesSlides/notesSlide6.xml" Id="Re5585254fdc3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0584f6228b4077" /><Relationship Type="http://schemas.openxmlformats.org/officeDocument/2006/relationships/notesSlide" Target="/ppt/notesSlides/notesSlide7.xml" Id="R83453ba446ea4d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be5127738f4bd4" /><Relationship Type="http://schemas.openxmlformats.org/officeDocument/2006/relationships/notesSlide" Target="/ppt/notesSlides/notesSlide8.xml" Id="R35fddaa464604e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397c588ed24a6a" /><Relationship Type="http://schemas.openxmlformats.org/officeDocument/2006/relationships/notesSlide" Target="/ppt/notesSlides/notesSlide9.xml" Id="Re522b6be01304d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f86bfcd2bc4c9d" /><Relationship Type="http://schemas.openxmlformats.org/officeDocument/2006/relationships/notesSlide" Target="/ppt/notesSlides/notesSlide10.xml" Id="Rc98808281f3043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71234c8d9c4b3f" /><Relationship Type="http://schemas.openxmlformats.org/officeDocument/2006/relationships/notesSlide" Target="/ppt/notesSlides/notesSlide11.xml" Id="R6d27bf548bd747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5721e957ae44a5" /><Relationship Type="http://schemas.openxmlformats.org/officeDocument/2006/relationships/notesSlide" Target="/ppt/notesSlides/notesSlide12.xml" Id="Rf36199369a4944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5b19ceadcb4d40" /><Relationship Type="http://schemas.openxmlformats.org/officeDocument/2006/relationships/notesSlide" Target="/ppt/notesSlides/notesSlide13.xml" Id="R455775cb22c94a34" /></Relationships>
</file>

<file path=ppt/slides/slide1.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3692CE-7C3B-49F3-B937-47BBAA0A5306}"/>
              </a:ext>
            </a:extLst>
          </p:cNvPr>
          <p:cNvSpPr>
            <a:spLocks xmlns:a="http://schemas.openxmlformats.org/drawingml/2006/main" noGrp="1"/>
          </p:cNvSpPr>
          <p:nvPr/>
        </p:nvSpPr>
        <p:spPr>
          <a:xfrm xmlns:a="http://schemas.openxmlformats.org/drawingml/2006/main">
            <a:off x="609600" y="5143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A7DE1"/>
                </a:solidFill>
                <a:latin typeface="Arial"/>
                <a:ea typeface="Arial"/>
                <a:cs typeface="Arial"/>
              </a:defRPr>
            </a:pPr>
            <a:r>
              <a:rPr sz="1275" b="1">
                <a:solidFill>
                  <a:srgbClr val="2A7DE1"/>
                </a:solidFill>
                <a:latin typeface="Arial"/>
                <a:ea typeface="Arial"/>
                <a:cs typeface="Arial"/>
              </a:rPr>
              <a:t>CLARAFIN</a:t>
            </a:r>
          </a:p>
        </p:txBody>
      </p:sp>
      <p:sp>
        <p:nvSpPr>
          <p:cNvPr id="2" name="">
            <a:extLst xmlns:a="http://schemas.openxmlformats.org/drawingml/2006/main">
              <a:ext uri="{FF2B5EF4-FFF2-40B4-BE49-F238E27FC236}">
                <a16:creationId xmlns:a16="http://schemas.microsoft.com/office/drawing/2014/main" id="{9E4604EA-65BC-4C3D-B53A-713DAC8A49FF}"/>
              </a:ext>
            </a:extLst>
          </p:cNvPr>
          <p:cNvSpPr>
            <a:spLocks xmlns:a="http://schemas.openxmlformats.org/drawingml/2006/main" noGrp="1"/>
          </p:cNvSpPr>
          <p:nvPr/>
        </p:nvSpPr>
        <p:spPr>
          <a:xfrm xmlns:a="http://schemas.openxmlformats.org/drawingml/2006/main">
            <a:off x="609600" y="1571625"/>
            <a:ext cx="6858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42"/>
          </a:bodyPr>
          <a:lstStyle xmlns:a="http://schemas.openxmlformats.org/drawingml/2006/main"/>
          <a:p xmlns:a="http://schemas.openxmlformats.org/drawingml/2006/main">
            <a:pPr algn="l">
              <a:defRPr sz="4500" b="1">
                <a:solidFill>
                  <a:srgbClr val="102238"/>
                </a:solidFill>
                <a:latin typeface="Arial"/>
                <a:ea typeface="Arial"/>
                <a:cs typeface="Arial"/>
              </a:defRPr>
            </a:pPr>
            <a:r>
              <a:rPr sz="4500" b="1">
                <a:solidFill>
                  <a:srgbClr val="102238"/>
                </a:solidFill>
                <a:latin typeface="Arial"/>
                <a:ea typeface="Arial"/>
                <a:cs typeface="Arial"/>
              </a:rPr>
              <a:t>Financial clarity,</a:t>
            </a:r>
          </a:p>
          <a:p xmlns:a="http://schemas.openxmlformats.org/drawingml/2006/main">
            <a:pPr algn="l">
              <a:defRPr sz="4500" b="1">
                <a:solidFill>
                  <a:srgbClr val="102238"/>
                </a:solidFill>
                <a:latin typeface="Arial"/>
                <a:ea typeface="Arial"/>
                <a:cs typeface="Arial"/>
              </a:defRPr>
            </a:pPr>
            <a:r>
              <a:rPr sz="4500" b="1">
                <a:solidFill>
                  <a:srgbClr val="102238"/>
                </a:solidFill>
                <a:latin typeface="Arial"/>
                <a:ea typeface="Arial"/>
                <a:cs typeface="Arial"/>
              </a:rPr>
              <a:t>grounded in your documents.</a:t>
            </a:r>
          </a:p>
        </p:txBody>
      </p:sp>
      <p:sp>
        <p:nvSpPr>
          <p:cNvPr id="3" name="">
            <a:extLst xmlns:a="http://schemas.openxmlformats.org/drawingml/2006/main">
              <a:ext uri="{FF2B5EF4-FFF2-40B4-BE49-F238E27FC236}">
                <a16:creationId xmlns:a16="http://schemas.microsoft.com/office/drawing/2014/main" id="{7C6D3C7D-125B-4857-8346-D663294D2F07}"/>
              </a:ext>
            </a:extLst>
          </p:cNvPr>
          <p:cNvSpPr>
            <a:spLocks xmlns:a="http://schemas.openxmlformats.org/drawingml/2006/main" noGrp="1"/>
          </p:cNvSpPr>
          <p:nvPr/>
        </p:nvSpPr>
        <p:spPr>
          <a:xfrm xmlns:a="http://schemas.openxmlformats.org/drawingml/2006/main">
            <a:off x="647700" y="34956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190"/>
          </a:bodyPr>
          <a:lstStyle xmlns:a="http://schemas.openxmlformats.org/drawingml/2006/main"/>
          <a:p xmlns:a="http://schemas.openxmlformats.org/drawingml/2006/main">
            <a:pPr algn="l">
              <a:defRPr sz="1800" b="0">
                <a:solidFill>
                  <a:srgbClr val="5D7087"/>
                </a:solidFill>
                <a:latin typeface="Arial"/>
                <a:ea typeface="Arial"/>
                <a:cs typeface="Arial"/>
              </a:defRPr>
            </a:pPr>
            <a:r>
              <a:rPr sz="1800" b="0">
                <a:solidFill>
                  <a:srgbClr val="5D7087"/>
                </a:solidFill>
                <a:latin typeface="Arial"/>
                <a:ea typeface="Arial"/>
                <a:cs typeface="Arial"/>
              </a:rPr>
              <a:t>A source-aware financial-document intelligence workspace for SMEs</a:t>
            </a:r>
          </a:p>
        </p:txBody>
      </p:sp>
      <p:sp>
        <p:nvSpPr>
          <p:cNvPr id="4" name="">
            <a:extLst xmlns:a="http://schemas.openxmlformats.org/drawingml/2006/main">
              <a:ext uri="{FF2B5EF4-FFF2-40B4-BE49-F238E27FC236}">
                <a16:creationId xmlns:a16="http://schemas.microsoft.com/office/drawing/2014/main" id="{1DA8E9C3-82C9-4CFF-A212-F13AE711EB23}"/>
              </a:ext>
            </a:extLst>
          </p:cNvPr>
          <p:cNvSpPr>
            <a:spLocks xmlns:a="http://schemas.openxmlformats.org/drawingml/2006/main" noGrp="1"/>
          </p:cNvSpPr>
          <p:nvPr/>
        </p:nvSpPr>
        <p:spPr>
          <a:xfrm xmlns:a="http://schemas.openxmlformats.org/drawingml/2006/main">
            <a:off x="7753350" y="1104900"/>
            <a:ext cx="3314700" cy="3905250"/>
          </a:xfrm>
          <a:prstGeom xmlns:a="http://schemas.openxmlformats.org/drawingml/2006/main" prst="roundRect">
            <a:avLst>
              <a:gd name="adj" fmla="val 3448"/>
            </a:avLst>
          </a:prstGeom>
          <a:solidFill xmlns:a="http://schemas.openxmlformats.org/drawingml/2006/main">
            <a:srgbClr val="0B1A2C"/>
          </a:solidFill>
          <a:ln xmlns:a="http://schemas.openxmlformats.org/drawingml/2006/main" w="9525">
            <a:solidFill>
              <a:srgbClr val="0B1A2C"/>
            </a:solidFill>
            <a:prstDash val="solid"/>
          </a:ln>
        </p:spPr>
      </p:sp>
      <p:sp>
        <p:nvSpPr>
          <p:cNvPr id="5" name="">
            <a:extLst xmlns:a="http://schemas.openxmlformats.org/drawingml/2006/main">
              <a:ext uri="{FF2B5EF4-FFF2-40B4-BE49-F238E27FC236}">
                <a16:creationId xmlns:a16="http://schemas.microsoft.com/office/drawing/2014/main" id="{8C69A08B-2E89-4020-83C9-7EB3E6D9F971}"/>
              </a:ext>
            </a:extLst>
          </p:cNvPr>
          <p:cNvSpPr>
            <a:spLocks xmlns:a="http://schemas.openxmlformats.org/drawingml/2006/main" noGrp="1"/>
          </p:cNvSpPr>
          <p:nvPr/>
        </p:nvSpPr>
        <p:spPr>
          <a:xfrm xmlns:a="http://schemas.openxmlformats.org/drawingml/2006/main">
            <a:off x="8153400" y="1619250"/>
            <a:ext cx="2286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11"/>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PDF</a:t>
            </a:r>
          </a:p>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CSV</a:t>
            </a:r>
          </a:p>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XLSX</a:t>
            </a:r>
          </a:p>
        </p:txBody>
      </p:sp>
      <p:sp>
        <p:nvSpPr>
          <p:cNvPr id="6" name="">
            <a:extLst xmlns:a="http://schemas.openxmlformats.org/drawingml/2006/main">
              <a:ext uri="{FF2B5EF4-FFF2-40B4-BE49-F238E27FC236}">
                <a16:creationId xmlns:a16="http://schemas.microsoft.com/office/drawing/2014/main" id="{E9D8012E-B4E7-4FA4-846C-07DA3EF47B59}"/>
              </a:ext>
            </a:extLst>
          </p:cNvPr>
          <p:cNvSpPr>
            <a:spLocks xmlns:a="http://schemas.openxmlformats.org/drawingml/2006/main" noGrp="1"/>
          </p:cNvSpPr>
          <p:nvPr/>
        </p:nvSpPr>
        <p:spPr>
          <a:xfrm xmlns:a="http://schemas.openxmlformats.org/drawingml/2006/main">
            <a:off x="8153400" y="3190875"/>
            <a:ext cx="2476500" cy="19050"/>
          </a:xfrm>
          <a:prstGeom xmlns:a="http://schemas.openxmlformats.org/drawingml/2006/main" prst="rect">
            <a:avLst/>
          </a:prstGeom>
          <a:solidFill xmlns:a="http://schemas.openxmlformats.org/drawingml/2006/main">
            <a:srgbClr val="F77C72"/>
          </a:solidFill>
          <a:ln xmlns:a="http://schemas.openxmlformats.org/drawingml/2006/main" w="0">
            <a:solidFill>
              <a:srgbClr val="F77C72"/>
            </a:solidFill>
            <a:prstDash val="solid"/>
          </a:ln>
        </p:spPr>
      </p:sp>
      <p:sp>
        <p:nvSpPr>
          <p:cNvPr id="7" name="">
            <a:extLst xmlns:a="http://schemas.openxmlformats.org/drawingml/2006/main">
              <a:ext uri="{FF2B5EF4-FFF2-40B4-BE49-F238E27FC236}">
                <a16:creationId xmlns:a16="http://schemas.microsoft.com/office/drawing/2014/main" id="{43EE879C-968E-45A1-BA6A-81D507E75C97}"/>
              </a:ext>
            </a:extLst>
          </p:cNvPr>
          <p:cNvSpPr>
            <a:spLocks xmlns:a="http://schemas.openxmlformats.org/drawingml/2006/main" noGrp="1"/>
          </p:cNvSpPr>
          <p:nvPr/>
        </p:nvSpPr>
        <p:spPr>
          <a:xfrm xmlns:a="http://schemas.openxmlformats.org/drawingml/2006/main">
            <a:off x="8153400" y="3476625"/>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67"/>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Upload → analyze → act</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with evidence</a:t>
            </a:r>
          </a:p>
        </p:txBody>
      </p:sp>
      <p:sp>
        <p:nvSpPr>
          <p:cNvPr id="8" name="">
            <a:extLst xmlns:a="http://schemas.openxmlformats.org/drawingml/2006/main">
              <a:ext uri="{FF2B5EF4-FFF2-40B4-BE49-F238E27FC236}">
                <a16:creationId xmlns:a16="http://schemas.microsoft.com/office/drawing/2014/main" id="{37767D81-816E-4936-A14E-3755C34EF404}"/>
              </a:ext>
            </a:extLst>
          </p:cNvPr>
          <p:cNvSpPr>
            <a:spLocks xmlns:a="http://schemas.openxmlformats.org/drawingml/2006/main" noGrp="1"/>
          </p:cNvSpPr>
          <p:nvPr/>
        </p:nvSpPr>
        <p:spPr>
          <a:xfrm xmlns:a="http://schemas.openxmlformats.org/drawingml/2006/main">
            <a:off x="647700" y="5867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5D7087"/>
                </a:solidFill>
                <a:latin typeface="Arial"/>
                <a:ea typeface="Arial"/>
                <a:cs typeface="Arial"/>
              </a:defRPr>
            </a:pPr>
            <a:r>
              <a:rPr sz="1200" b="0">
                <a:solidFill>
                  <a:srgbClr val="5D7087"/>
                </a:solidFill>
                <a:latin typeface="Arial"/>
                <a:ea typeface="Arial"/>
                <a:cs typeface="Arial"/>
              </a:rPr>
              <a:t>Team presentation · 4 speakers</a:t>
            </a:r>
          </a:p>
        </p:txBody>
      </p:sp>
    </p:spTree>
    <p:extLst>
      <p:ext uri="{BB962C8B-B14F-4D97-AF65-F5344CB8AC3E}">
        <p14:creationId xmlns:p14="http://schemas.microsoft.com/office/powerpoint/2010/main" val="20966989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7E83230-C188-403F-A6E2-BF902A9AA71D}"/>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77C72"/>
                </a:solidFill>
                <a:latin typeface="Arial"/>
                <a:ea typeface="Arial"/>
                <a:cs typeface="Arial"/>
              </a:defRPr>
            </a:pPr>
            <a:r>
              <a:rPr sz="1050" b="1">
                <a:solidFill>
                  <a:srgbClr val="F77C72"/>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CFF14B10-0A47-4A1D-A054-60379C332108}"/>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35"/>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Finance teams have the documents — but not a single, reliable view.</a:t>
            </a:r>
          </a:p>
        </p:txBody>
      </p:sp>
      <p:sp>
        <p:nvSpPr>
          <p:cNvPr id="3" name="">
            <a:extLst xmlns:a="http://schemas.openxmlformats.org/drawingml/2006/main">
              <a:ext uri="{FF2B5EF4-FFF2-40B4-BE49-F238E27FC236}">
                <a16:creationId xmlns:a16="http://schemas.microsoft.com/office/drawing/2014/main" id="{6C07B0DB-5A25-40C1-AABE-E55433C73AE4}"/>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408FC4EB-F1FF-41A1-96A3-EF45B83452C5}"/>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0B0E7B4-7B77-4DBB-88A2-BBF2FDDF34EB}"/>
              </a:ext>
            </a:extLst>
          </p:cNvPr>
          <p:cNvSpPr>
            <a:spLocks xmlns:a="http://schemas.openxmlformats.org/drawingml/2006/main" noGrp="1"/>
          </p:cNvSpPr>
          <p:nvPr/>
        </p:nvSpPr>
        <p:spPr>
          <a:xfrm xmlns:a="http://schemas.openxmlformats.org/drawingml/2006/main">
            <a:off x="723900" y="2133600"/>
            <a:ext cx="133350" cy="133350"/>
          </a:xfrm>
          <a:prstGeom xmlns:a="http://schemas.openxmlformats.org/drawingml/2006/main" prst="ellipse">
            <a:avLst/>
          </a:prstGeom>
          <a:solidFill xmlns:a="http://schemas.openxmlformats.org/drawingml/2006/main">
            <a:srgbClr val="F77C72"/>
          </a:solidFill>
          <a:ln xmlns:a="http://schemas.openxmlformats.org/drawingml/2006/main" w="9525">
            <a:solidFill>
              <a:srgbClr val="F77C72"/>
            </a:solidFill>
            <a:prstDash val="solid"/>
          </a:ln>
        </p:spPr>
      </p:sp>
      <p:sp>
        <p:nvSpPr>
          <p:cNvPr id="6" name="">
            <a:extLst xmlns:a="http://schemas.openxmlformats.org/drawingml/2006/main">
              <a:ext uri="{FF2B5EF4-FFF2-40B4-BE49-F238E27FC236}">
                <a16:creationId xmlns:a16="http://schemas.microsoft.com/office/drawing/2014/main" id="{AC5BD46E-B67A-45AD-9CEE-82E2A4DA96AE}"/>
              </a:ext>
            </a:extLst>
          </p:cNvPr>
          <p:cNvSpPr>
            <a:spLocks xmlns:a="http://schemas.openxmlformats.org/drawingml/2006/main" noGrp="1"/>
          </p:cNvSpPr>
          <p:nvPr/>
        </p:nvSpPr>
        <p:spPr>
          <a:xfrm xmlns:a="http://schemas.openxmlformats.org/drawingml/2006/main">
            <a:off x="990600" y="20955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Scattered sources</a:t>
            </a:r>
          </a:p>
        </p:txBody>
      </p:sp>
      <p:sp>
        <p:nvSpPr>
          <p:cNvPr id="7" name="">
            <a:extLst xmlns:a="http://schemas.openxmlformats.org/drawingml/2006/main">
              <a:ext uri="{FF2B5EF4-FFF2-40B4-BE49-F238E27FC236}">
                <a16:creationId xmlns:a16="http://schemas.microsoft.com/office/drawing/2014/main" id="{07539CF2-9443-4C14-9507-B4B0218340DF}"/>
              </a:ext>
            </a:extLst>
          </p:cNvPr>
          <p:cNvSpPr>
            <a:spLocks xmlns:a="http://schemas.openxmlformats.org/drawingml/2006/main" noGrp="1"/>
          </p:cNvSpPr>
          <p:nvPr/>
        </p:nvSpPr>
        <p:spPr>
          <a:xfrm xmlns:a="http://schemas.openxmlformats.org/drawingml/2006/main">
            <a:off x="990600" y="24098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Bank statements, P&amp;L reports, invoices, and spreadsheets sit in different places.</a:t>
            </a:r>
          </a:p>
        </p:txBody>
      </p:sp>
      <p:sp>
        <p:nvSpPr>
          <p:cNvPr id="8" name="">
            <a:extLst xmlns:a="http://schemas.openxmlformats.org/drawingml/2006/main">
              <a:ext uri="{FF2B5EF4-FFF2-40B4-BE49-F238E27FC236}">
                <a16:creationId xmlns:a16="http://schemas.microsoft.com/office/drawing/2014/main" id="{9206D788-7E0A-4A35-B75E-EBE2C971C744}"/>
              </a:ext>
            </a:extLst>
          </p:cNvPr>
          <p:cNvSpPr>
            <a:spLocks xmlns:a="http://schemas.openxmlformats.org/drawingml/2006/main" noGrp="1"/>
          </p:cNvSpPr>
          <p:nvPr/>
        </p:nvSpPr>
        <p:spPr>
          <a:xfrm xmlns:a="http://schemas.openxmlformats.org/drawingml/2006/main">
            <a:off x="723900" y="3381375"/>
            <a:ext cx="133350" cy="133350"/>
          </a:xfrm>
          <a:prstGeom xmlns:a="http://schemas.openxmlformats.org/drawingml/2006/main" prst="ellipse">
            <a:avLst/>
          </a:prstGeom>
          <a:solidFill xmlns:a="http://schemas.openxmlformats.org/drawingml/2006/main">
            <a:srgbClr val="F77C72"/>
          </a:solidFill>
          <a:ln xmlns:a="http://schemas.openxmlformats.org/drawingml/2006/main" w="9525">
            <a:solidFill>
              <a:srgbClr val="F77C72"/>
            </a:solidFill>
            <a:prstDash val="solid"/>
          </a:ln>
        </p:spPr>
      </p:sp>
      <p:sp>
        <p:nvSpPr>
          <p:cNvPr id="9" name="">
            <a:extLst xmlns:a="http://schemas.openxmlformats.org/drawingml/2006/main">
              <a:ext uri="{FF2B5EF4-FFF2-40B4-BE49-F238E27FC236}">
                <a16:creationId xmlns:a16="http://schemas.microsoft.com/office/drawing/2014/main" id="{F064625B-F2CE-4144-9033-5C86AE265ACE}"/>
              </a:ext>
            </a:extLst>
          </p:cNvPr>
          <p:cNvSpPr>
            <a:spLocks xmlns:a="http://schemas.openxmlformats.org/drawingml/2006/main" noGrp="1"/>
          </p:cNvSpPr>
          <p:nvPr/>
        </p:nvSpPr>
        <p:spPr>
          <a:xfrm xmlns:a="http://schemas.openxmlformats.org/drawingml/2006/main">
            <a:off x="990600" y="33432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Manual interpretation</a:t>
            </a:r>
          </a:p>
        </p:txBody>
      </p:sp>
      <p:sp>
        <p:nvSpPr>
          <p:cNvPr id="10" name="">
            <a:extLst xmlns:a="http://schemas.openxmlformats.org/drawingml/2006/main">
              <a:ext uri="{FF2B5EF4-FFF2-40B4-BE49-F238E27FC236}">
                <a16:creationId xmlns:a16="http://schemas.microsoft.com/office/drawing/2014/main" id="{25680BBE-C22B-4F28-AB55-FB89EBFE25BB}"/>
              </a:ext>
            </a:extLst>
          </p:cNvPr>
          <p:cNvSpPr>
            <a:spLocks xmlns:a="http://schemas.openxmlformats.org/drawingml/2006/main" noGrp="1"/>
          </p:cNvSpPr>
          <p:nvPr/>
        </p:nvSpPr>
        <p:spPr>
          <a:xfrm xmlns:a="http://schemas.openxmlformats.org/drawingml/2006/main">
            <a:off x="990600" y="36576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Teams spend time reading files and reconciling clues instead of making decisions.</a:t>
            </a:r>
          </a:p>
        </p:txBody>
      </p:sp>
      <p:sp>
        <p:nvSpPr>
          <p:cNvPr id="11" name="">
            <a:extLst xmlns:a="http://schemas.openxmlformats.org/drawingml/2006/main">
              <a:ext uri="{FF2B5EF4-FFF2-40B4-BE49-F238E27FC236}">
                <a16:creationId xmlns:a16="http://schemas.microsoft.com/office/drawing/2014/main" id="{3EF5A2C9-8305-41D7-BE31-44A7885D7C24}"/>
              </a:ext>
            </a:extLst>
          </p:cNvPr>
          <p:cNvSpPr>
            <a:spLocks xmlns:a="http://schemas.openxmlformats.org/drawingml/2006/main" noGrp="1"/>
          </p:cNvSpPr>
          <p:nvPr/>
        </p:nvSpPr>
        <p:spPr>
          <a:xfrm xmlns:a="http://schemas.openxmlformats.org/drawingml/2006/main">
            <a:off x="723900" y="4629150"/>
            <a:ext cx="133350" cy="133350"/>
          </a:xfrm>
          <a:prstGeom xmlns:a="http://schemas.openxmlformats.org/drawingml/2006/main" prst="ellipse">
            <a:avLst/>
          </a:prstGeom>
          <a:solidFill xmlns:a="http://schemas.openxmlformats.org/drawingml/2006/main">
            <a:srgbClr val="F77C72"/>
          </a:solidFill>
          <a:ln xmlns:a="http://schemas.openxmlformats.org/drawingml/2006/main" w="9525">
            <a:solidFill>
              <a:srgbClr val="F77C72"/>
            </a:solidFill>
            <a:prstDash val="solid"/>
          </a:ln>
        </p:spPr>
      </p:sp>
      <p:sp>
        <p:nvSpPr>
          <p:cNvPr id="12" name="">
            <a:extLst xmlns:a="http://schemas.openxmlformats.org/drawingml/2006/main">
              <a:ext uri="{FF2B5EF4-FFF2-40B4-BE49-F238E27FC236}">
                <a16:creationId xmlns:a16="http://schemas.microsoft.com/office/drawing/2014/main" id="{CADFBDCB-E905-4D0D-81FA-37CBFE396E33}"/>
              </a:ext>
            </a:extLst>
          </p:cNvPr>
          <p:cNvSpPr>
            <a:spLocks xmlns:a="http://schemas.openxmlformats.org/drawingml/2006/main" noGrp="1"/>
          </p:cNvSpPr>
          <p:nvPr/>
        </p:nvSpPr>
        <p:spPr>
          <a:xfrm xmlns:a="http://schemas.openxmlformats.org/drawingml/2006/main">
            <a:off x="990600" y="45910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Uncertain conclusions</a:t>
            </a:r>
          </a:p>
        </p:txBody>
      </p:sp>
      <p:sp>
        <p:nvSpPr>
          <p:cNvPr id="13" name="">
            <a:extLst xmlns:a="http://schemas.openxmlformats.org/drawingml/2006/main">
              <a:ext uri="{FF2B5EF4-FFF2-40B4-BE49-F238E27FC236}">
                <a16:creationId xmlns:a16="http://schemas.microsoft.com/office/drawing/2014/main" id="{D3634BF1-8FF9-403A-9132-BAAE83148CC6}"/>
              </a:ext>
            </a:extLst>
          </p:cNvPr>
          <p:cNvSpPr>
            <a:spLocks xmlns:a="http://schemas.openxmlformats.org/drawingml/2006/main" noGrp="1"/>
          </p:cNvSpPr>
          <p:nvPr/>
        </p:nvSpPr>
        <p:spPr>
          <a:xfrm xmlns:a="http://schemas.openxmlformats.org/drawingml/2006/main">
            <a:off x="990600" y="490537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Without traceability, it is difficult to defend a metric or know what information is missing.</a:t>
            </a:r>
          </a:p>
        </p:txBody>
      </p:sp>
      <p:sp>
        <p:nvSpPr>
          <p:cNvPr id="14" name="">
            <a:extLst xmlns:a="http://schemas.openxmlformats.org/drawingml/2006/main">
              <a:ext uri="{FF2B5EF4-FFF2-40B4-BE49-F238E27FC236}">
                <a16:creationId xmlns:a16="http://schemas.microsoft.com/office/drawing/2014/main" id="{970E6466-AB65-4909-A214-6A391F1D6F03}"/>
              </a:ext>
            </a:extLst>
          </p:cNvPr>
          <p:cNvSpPr>
            <a:spLocks xmlns:a="http://schemas.openxmlformats.org/drawingml/2006/main" noGrp="1"/>
          </p:cNvSpPr>
          <p:nvPr/>
        </p:nvSpPr>
        <p:spPr>
          <a:xfrm xmlns:a="http://schemas.openxmlformats.org/drawingml/2006/main">
            <a:off x="6858000" y="2076450"/>
            <a:ext cx="4191000" cy="2990850"/>
          </a:xfrm>
          <a:prstGeom xmlns:a="http://schemas.openxmlformats.org/drawingml/2006/main" prst="roundRect">
            <a:avLst>
              <a:gd name="adj" fmla="val 3822"/>
            </a:avLst>
          </a:prstGeom>
          <a:solidFill xmlns:a="http://schemas.openxmlformats.org/drawingml/2006/main">
            <a:srgbClr val="EAF2FA"/>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95F6C13F-1654-4BB6-B69A-93E8200142BF}"/>
              </a:ext>
            </a:extLst>
          </p:cNvPr>
          <p:cNvSpPr>
            <a:spLocks xmlns:a="http://schemas.openxmlformats.org/drawingml/2006/main" noGrp="1"/>
          </p:cNvSpPr>
          <p:nvPr/>
        </p:nvSpPr>
        <p:spPr>
          <a:xfrm xmlns:a="http://schemas.openxmlformats.org/drawingml/2006/main">
            <a:off x="7258050" y="24288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2A7DE1"/>
                </a:solidFill>
                <a:latin typeface="Arial"/>
                <a:ea typeface="Arial"/>
                <a:cs typeface="Arial"/>
              </a:defRPr>
            </a:pPr>
            <a:r>
              <a:rPr sz="1875" b="1">
                <a:solidFill>
                  <a:srgbClr val="2A7DE1"/>
                </a:solidFill>
                <a:latin typeface="Arial"/>
                <a:ea typeface="Arial"/>
                <a:cs typeface="Arial"/>
              </a:rPr>
              <a:t>The gap</a:t>
            </a:r>
          </a:p>
        </p:txBody>
      </p:sp>
      <p:sp>
        <p:nvSpPr>
          <p:cNvPr id="16" name="">
            <a:extLst xmlns:a="http://schemas.openxmlformats.org/drawingml/2006/main">
              <a:ext uri="{FF2B5EF4-FFF2-40B4-BE49-F238E27FC236}">
                <a16:creationId xmlns:a16="http://schemas.microsoft.com/office/drawing/2014/main" id="{A8584BE5-5755-4633-9267-9B2C6E66F41D}"/>
              </a:ext>
            </a:extLst>
          </p:cNvPr>
          <p:cNvSpPr>
            <a:spLocks xmlns:a="http://schemas.openxmlformats.org/drawingml/2006/main" noGrp="1"/>
          </p:cNvSpPr>
          <p:nvPr/>
        </p:nvSpPr>
        <p:spPr>
          <a:xfrm xmlns:a="http://schemas.openxmlformats.org/drawingml/2006/main">
            <a:off x="7258050" y="2952750"/>
            <a:ext cx="30003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68"/>
          </a:bodyPr>
          <a:lstStyle xmlns:a="http://schemas.openxmlformats.org/drawingml/2006/main"/>
          <a:p xmlns:a="http://schemas.openxmlformats.org/drawingml/2006/main">
            <a:pPr algn="l">
              <a:defRPr sz="2925" b="1">
                <a:solidFill>
                  <a:srgbClr val="102238"/>
                </a:solidFill>
                <a:latin typeface="Arial"/>
                <a:ea typeface="Arial"/>
                <a:cs typeface="Arial"/>
              </a:defRPr>
            </a:pPr>
            <a:r>
              <a:rPr sz="2925" b="1">
                <a:solidFill>
                  <a:srgbClr val="102238"/>
                </a:solidFill>
                <a:latin typeface="Arial"/>
                <a:ea typeface="Arial"/>
                <a:cs typeface="Arial"/>
              </a:rPr>
              <a:t>Raw financial files</a:t>
            </a:r>
          </a:p>
          <a:p xmlns:a="http://schemas.openxmlformats.org/drawingml/2006/main">
            <a:pPr algn="l">
              <a:defRPr sz="2925" b="1">
                <a:solidFill>
                  <a:srgbClr val="102238"/>
                </a:solidFill>
                <a:latin typeface="Arial"/>
                <a:ea typeface="Arial"/>
                <a:cs typeface="Arial"/>
              </a:defRPr>
            </a:pPr>
            <a:r>
              <a:rPr sz="2925" b="1">
                <a:solidFill>
                  <a:srgbClr val="102238"/>
                </a:solidFill>
                <a:latin typeface="Arial"/>
                <a:ea typeface="Arial"/>
                <a:cs typeface="Arial"/>
              </a:rPr>
              <a:t>should become</a:t>
            </a:r>
          </a:p>
          <a:p xmlns:a="http://schemas.openxmlformats.org/drawingml/2006/main">
            <a:pPr algn="l">
              <a:defRPr sz="2925" b="1">
                <a:solidFill>
                  <a:srgbClr val="102238"/>
                </a:solidFill>
                <a:latin typeface="Arial"/>
                <a:ea typeface="Arial"/>
                <a:cs typeface="Arial"/>
              </a:defRPr>
            </a:pPr>
            <a:r>
              <a:rPr sz="2925" b="1">
                <a:solidFill>
                  <a:srgbClr val="102238"/>
                </a:solidFill>
                <a:latin typeface="Arial"/>
                <a:ea typeface="Arial"/>
                <a:cs typeface="Arial"/>
              </a:rPr>
              <a:t>clear decisions.</a:t>
            </a:r>
          </a:p>
        </p:txBody>
      </p:sp>
      <p:sp>
        <p:nvSpPr>
          <p:cNvPr id="17" name="">
            <a:extLst xmlns:a="http://schemas.openxmlformats.org/drawingml/2006/main">
              <a:ext uri="{FF2B5EF4-FFF2-40B4-BE49-F238E27FC236}">
                <a16:creationId xmlns:a16="http://schemas.microsoft.com/office/drawing/2014/main" id="{E3702B8C-A697-480D-A471-CFC1A94A8378}"/>
              </a:ext>
            </a:extLst>
          </p:cNvPr>
          <p:cNvSpPr>
            <a:spLocks xmlns:a="http://schemas.openxmlformats.org/drawingml/2006/main" noGrp="1"/>
          </p:cNvSpPr>
          <p:nvPr/>
        </p:nvSpPr>
        <p:spPr>
          <a:xfrm xmlns:a="http://schemas.openxmlformats.org/drawingml/2006/main">
            <a:off x="7258050" y="44100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7087"/>
                </a:solidFill>
                <a:latin typeface="Arial"/>
                <a:ea typeface="Arial"/>
                <a:cs typeface="Arial"/>
              </a:defRPr>
            </a:pPr>
            <a:r>
              <a:rPr sz="1500" b="0">
                <a:solidFill>
                  <a:srgbClr val="5D7087"/>
                </a:solidFill>
                <a:latin typeface="Arial"/>
                <a:ea typeface="Arial"/>
                <a:cs typeface="Arial"/>
              </a:rPr>
              <a:t>…without inventing figures.</a:t>
            </a:r>
          </a:p>
        </p:txBody>
      </p:sp>
    </p:spTree>
    <p:extLst>
      <p:ext uri="{BB962C8B-B14F-4D97-AF65-F5344CB8AC3E}">
        <p14:creationId xmlns:p14="http://schemas.microsoft.com/office/powerpoint/2010/main" val="1563601039"/>
      </p:ext>
    </p:extLst>
  </p:cSld>
</p:sld>
</file>

<file path=ppt/slides/slide3.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954F638-8EC5-4B42-A28B-CF710EA2DA06}"/>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OUR ANSWER</a:t>
            </a:r>
          </a:p>
        </p:txBody>
      </p:sp>
      <p:sp>
        <p:nvSpPr>
          <p:cNvPr id="2" name="">
            <a:extLst xmlns:a="http://schemas.openxmlformats.org/drawingml/2006/main">
              <a:ext uri="{FF2B5EF4-FFF2-40B4-BE49-F238E27FC236}">
                <a16:creationId xmlns:a16="http://schemas.microsoft.com/office/drawing/2014/main" id="{4660E697-5640-436E-9FE0-B578F3D78390}"/>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41"/>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Clarafin turns uploaded financial records into an auditable financial workspace.</a:t>
            </a:r>
          </a:p>
        </p:txBody>
      </p:sp>
      <p:sp>
        <p:nvSpPr>
          <p:cNvPr id="3" name="">
            <a:extLst xmlns:a="http://schemas.openxmlformats.org/drawingml/2006/main">
              <a:ext uri="{FF2B5EF4-FFF2-40B4-BE49-F238E27FC236}">
                <a16:creationId xmlns:a16="http://schemas.microsoft.com/office/drawing/2014/main" id="{EBD77909-3F77-46A9-8841-F5EA2924B49F}"/>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DF6C374C-EE6C-44DA-AA05-C12496D058B5}"/>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E4E976E-27B9-4060-BDB0-838E9F057129}"/>
              </a:ext>
            </a:extLst>
          </p:cNvPr>
          <p:cNvSpPr>
            <a:spLocks xmlns:a="http://schemas.openxmlformats.org/drawingml/2006/main" noGrp="1"/>
          </p:cNvSpPr>
          <p:nvPr/>
        </p:nvSpPr>
        <p:spPr>
          <a:xfrm xmlns:a="http://schemas.openxmlformats.org/drawingml/2006/main">
            <a:off x="590550" y="2209800"/>
            <a:ext cx="24003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FA930780-673E-4316-BDB2-E15F56833E9A}"/>
              </a:ext>
            </a:extLst>
          </p:cNvPr>
          <p:cNvSpPr>
            <a:spLocks xmlns:a="http://schemas.openxmlformats.org/drawingml/2006/main" noGrp="1"/>
          </p:cNvSpPr>
          <p:nvPr/>
        </p:nvSpPr>
        <p:spPr>
          <a:xfrm xmlns:a="http://schemas.openxmlformats.org/drawingml/2006/main">
            <a:off x="828675" y="24288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2A7DE1"/>
                </a:solidFill>
                <a:latin typeface="Arial"/>
                <a:ea typeface="Arial"/>
                <a:cs typeface="Arial"/>
              </a:defRPr>
            </a:pPr>
            <a:r>
              <a:rPr sz="2325" b="1">
                <a:solidFill>
                  <a:srgbClr val="2A7DE1"/>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A8E0A9C-70AD-4E1B-9B52-EFDDB4AEF7FF}"/>
              </a:ext>
            </a:extLst>
          </p:cNvPr>
          <p:cNvSpPr>
            <a:spLocks xmlns:a="http://schemas.openxmlformats.org/drawingml/2006/main" noGrp="1"/>
          </p:cNvSpPr>
          <p:nvPr/>
        </p:nvSpPr>
        <p:spPr>
          <a:xfrm xmlns:a="http://schemas.openxmlformats.org/drawingml/2006/main">
            <a:off x="828675" y="3105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2238"/>
                </a:solidFill>
                <a:latin typeface="Arial"/>
                <a:ea typeface="Arial"/>
                <a:cs typeface="Arial"/>
              </a:defRPr>
            </a:pPr>
            <a:r>
              <a:rPr sz="1875" b="1">
                <a:solidFill>
                  <a:srgbClr val="102238"/>
                </a:solidFill>
                <a:latin typeface="Arial"/>
                <a:ea typeface="Arial"/>
                <a:cs typeface="Arial"/>
              </a:rPr>
              <a:t>Ingest</a:t>
            </a:r>
          </a:p>
        </p:txBody>
      </p:sp>
      <p:sp>
        <p:nvSpPr>
          <p:cNvPr id="8" name="">
            <a:extLst xmlns:a="http://schemas.openxmlformats.org/drawingml/2006/main">
              <a:ext uri="{FF2B5EF4-FFF2-40B4-BE49-F238E27FC236}">
                <a16:creationId xmlns:a16="http://schemas.microsoft.com/office/drawing/2014/main" id="{DAFE5766-C4EE-4B32-BA74-76CEDD6307E3}"/>
              </a:ext>
            </a:extLst>
          </p:cNvPr>
          <p:cNvSpPr>
            <a:spLocks xmlns:a="http://schemas.openxmlformats.org/drawingml/2006/main" noGrp="1"/>
          </p:cNvSpPr>
          <p:nvPr/>
        </p:nvSpPr>
        <p:spPr>
          <a:xfrm xmlns:a="http://schemas.openxmlformats.org/drawingml/2006/main">
            <a:off x="828675" y="352425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Upload supported financial files securely.</a:t>
            </a:r>
          </a:p>
        </p:txBody>
      </p:sp>
      <p:sp>
        <p:nvSpPr>
          <p:cNvPr id="9" name="">
            <a:extLst xmlns:a="http://schemas.openxmlformats.org/drawingml/2006/main">
              <a:ext uri="{FF2B5EF4-FFF2-40B4-BE49-F238E27FC236}">
                <a16:creationId xmlns:a16="http://schemas.microsoft.com/office/drawing/2014/main" id="{908C8888-E399-43E5-9ADE-4A57E9F435EC}"/>
              </a:ext>
            </a:extLst>
          </p:cNvPr>
          <p:cNvSpPr>
            <a:spLocks xmlns:a="http://schemas.openxmlformats.org/drawingml/2006/main" noGrp="1"/>
          </p:cNvSpPr>
          <p:nvPr/>
        </p:nvSpPr>
        <p:spPr>
          <a:xfrm xmlns:a="http://schemas.openxmlformats.org/drawingml/2006/main">
            <a:off x="3048000" y="3143250"/>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77C72"/>
                </a:solidFill>
                <a:latin typeface="Arial"/>
                <a:ea typeface="Arial"/>
                <a:cs typeface="Arial"/>
              </a:defRPr>
            </a:pPr>
            <a:r>
              <a:rPr sz="1875" b="1">
                <a:solidFill>
                  <a:srgbClr val="F77C7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BFC4DB5-04B3-4531-BD4D-E41AD1878403}"/>
              </a:ext>
            </a:extLst>
          </p:cNvPr>
          <p:cNvSpPr>
            <a:spLocks xmlns:a="http://schemas.openxmlformats.org/drawingml/2006/main" noGrp="1"/>
          </p:cNvSpPr>
          <p:nvPr/>
        </p:nvSpPr>
        <p:spPr>
          <a:xfrm xmlns:a="http://schemas.openxmlformats.org/drawingml/2006/main">
            <a:off x="3371850" y="2209800"/>
            <a:ext cx="24003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11" name="">
            <a:extLst xmlns:a="http://schemas.openxmlformats.org/drawingml/2006/main">
              <a:ext uri="{FF2B5EF4-FFF2-40B4-BE49-F238E27FC236}">
                <a16:creationId xmlns:a16="http://schemas.microsoft.com/office/drawing/2014/main" id="{015B5FBC-2044-45CC-9EF6-9E923E21B231}"/>
              </a:ext>
            </a:extLst>
          </p:cNvPr>
          <p:cNvSpPr>
            <a:spLocks xmlns:a="http://schemas.openxmlformats.org/drawingml/2006/main" noGrp="1"/>
          </p:cNvSpPr>
          <p:nvPr/>
        </p:nvSpPr>
        <p:spPr>
          <a:xfrm xmlns:a="http://schemas.openxmlformats.org/drawingml/2006/main">
            <a:off x="3609975" y="24288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2A7DE1"/>
                </a:solidFill>
                <a:latin typeface="Arial"/>
                <a:ea typeface="Arial"/>
                <a:cs typeface="Arial"/>
              </a:defRPr>
            </a:pPr>
            <a:r>
              <a:rPr sz="2325" b="1">
                <a:solidFill>
                  <a:srgbClr val="2A7DE1"/>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022634AF-6427-462E-BA6E-07C72AA2A687}"/>
              </a:ext>
            </a:extLst>
          </p:cNvPr>
          <p:cNvSpPr>
            <a:spLocks xmlns:a="http://schemas.openxmlformats.org/drawingml/2006/main" noGrp="1"/>
          </p:cNvSpPr>
          <p:nvPr/>
        </p:nvSpPr>
        <p:spPr>
          <a:xfrm xmlns:a="http://schemas.openxmlformats.org/drawingml/2006/main">
            <a:off x="3609975" y="3105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2238"/>
                </a:solidFill>
                <a:latin typeface="Arial"/>
                <a:ea typeface="Arial"/>
                <a:cs typeface="Arial"/>
              </a:defRPr>
            </a:pPr>
            <a:r>
              <a:rPr sz="1875" b="1">
                <a:solidFill>
                  <a:srgbClr val="102238"/>
                </a:solidFill>
                <a:latin typeface="Arial"/>
                <a:ea typeface="Arial"/>
                <a:cs typeface="Arial"/>
              </a:rPr>
              <a:t>Interpret</a:t>
            </a:r>
          </a:p>
        </p:txBody>
      </p:sp>
      <p:sp>
        <p:nvSpPr>
          <p:cNvPr id="13" name="">
            <a:extLst xmlns:a="http://schemas.openxmlformats.org/drawingml/2006/main">
              <a:ext uri="{FF2B5EF4-FFF2-40B4-BE49-F238E27FC236}">
                <a16:creationId xmlns:a16="http://schemas.microsoft.com/office/drawing/2014/main" id="{84A24C50-05DD-41AD-A79B-B4797AF7DE65}"/>
              </a:ext>
            </a:extLst>
          </p:cNvPr>
          <p:cNvSpPr>
            <a:spLocks xmlns:a="http://schemas.openxmlformats.org/drawingml/2006/main" noGrp="1"/>
          </p:cNvSpPr>
          <p:nvPr/>
        </p:nvSpPr>
        <p:spPr>
          <a:xfrm xmlns:a="http://schemas.openxmlformats.org/drawingml/2006/main">
            <a:off x="3609975" y="352425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Parse content and organize it by document type.</a:t>
            </a:r>
          </a:p>
        </p:txBody>
      </p:sp>
      <p:sp>
        <p:nvSpPr>
          <p:cNvPr id="14" name="">
            <a:extLst xmlns:a="http://schemas.openxmlformats.org/drawingml/2006/main">
              <a:ext uri="{FF2B5EF4-FFF2-40B4-BE49-F238E27FC236}">
                <a16:creationId xmlns:a16="http://schemas.microsoft.com/office/drawing/2014/main" id="{43D9AE5D-623F-41A6-AEC4-BCE0CF126B38}"/>
              </a:ext>
            </a:extLst>
          </p:cNvPr>
          <p:cNvSpPr>
            <a:spLocks xmlns:a="http://schemas.openxmlformats.org/drawingml/2006/main" noGrp="1"/>
          </p:cNvSpPr>
          <p:nvPr/>
        </p:nvSpPr>
        <p:spPr>
          <a:xfrm xmlns:a="http://schemas.openxmlformats.org/drawingml/2006/main">
            <a:off x="5829300" y="3143250"/>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77C72"/>
                </a:solidFill>
                <a:latin typeface="Arial"/>
                <a:ea typeface="Arial"/>
                <a:cs typeface="Arial"/>
              </a:defRPr>
            </a:pPr>
            <a:r>
              <a:rPr sz="1875" b="1">
                <a:solidFill>
                  <a:srgbClr val="F77C7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03C7C00-B1DD-4905-AA1B-47B25C77642B}"/>
              </a:ext>
            </a:extLst>
          </p:cNvPr>
          <p:cNvSpPr>
            <a:spLocks xmlns:a="http://schemas.openxmlformats.org/drawingml/2006/main" noGrp="1"/>
          </p:cNvSpPr>
          <p:nvPr/>
        </p:nvSpPr>
        <p:spPr>
          <a:xfrm xmlns:a="http://schemas.openxmlformats.org/drawingml/2006/main">
            <a:off x="6153150" y="2209800"/>
            <a:ext cx="24003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16" name="">
            <a:extLst xmlns:a="http://schemas.openxmlformats.org/drawingml/2006/main">
              <a:ext uri="{FF2B5EF4-FFF2-40B4-BE49-F238E27FC236}">
                <a16:creationId xmlns:a16="http://schemas.microsoft.com/office/drawing/2014/main" id="{158B9966-9E81-47A5-B6B8-807E42E7D08B}"/>
              </a:ext>
            </a:extLst>
          </p:cNvPr>
          <p:cNvSpPr>
            <a:spLocks xmlns:a="http://schemas.openxmlformats.org/drawingml/2006/main" noGrp="1"/>
          </p:cNvSpPr>
          <p:nvPr/>
        </p:nvSpPr>
        <p:spPr>
          <a:xfrm xmlns:a="http://schemas.openxmlformats.org/drawingml/2006/main">
            <a:off x="6391275" y="24288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2A7DE1"/>
                </a:solidFill>
                <a:latin typeface="Arial"/>
                <a:ea typeface="Arial"/>
                <a:cs typeface="Arial"/>
              </a:defRPr>
            </a:pPr>
            <a:r>
              <a:rPr sz="2325" b="1">
                <a:solidFill>
                  <a:srgbClr val="2A7DE1"/>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00810A1D-E434-494A-A8AA-9C54EC917B24}"/>
              </a:ext>
            </a:extLst>
          </p:cNvPr>
          <p:cNvSpPr>
            <a:spLocks xmlns:a="http://schemas.openxmlformats.org/drawingml/2006/main" noGrp="1"/>
          </p:cNvSpPr>
          <p:nvPr/>
        </p:nvSpPr>
        <p:spPr>
          <a:xfrm xmlns:a="http://schemas.openxmlformats.org/drawingml/2006/main">
            <a:off x="6391275" y="3105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2238"/>
                </a:solidFill>
                <a:latin typeface="Arial"/>
                <a:ea typeface="Arial"/>
                <a:cs typeface="Arial"/>
              </a:defRPr>
            </a:pPr>
            <a:r>
              <a:rPr sz="1875" b="1">
                <a:solidFill>
                  <a:srgbClr val="102238"/>
                </a:solidFill>
                <a:latin typeface="Arial"/>
                <a:ea typeface="Arial"/>
                <a:cs typeface="Arial"/>
              </a:rPr>
              <a:t>Reason</a:t>
            </a:r>
          </a:p>
        </p:txBody>
      </p:sp>
      <p:sp>
        <p:nvSpPr>
          <p:cNvPr id="18" name="">
            <a:extLst xmlns:a="http://schemas.openxmlformats.org/drawingml/2006/main">
              <a:ext uri="{FF2B5EF4-FFF2-40B4-BE49-F238E27FC236}">
                <a16:creationId xmlns:a16="http://schemas.microsoft.com/office/drawing/2014/main" id="{F7F8D3FA-E81B-4CC5-8F0C-CC200C499246}"/>
              </a:ext>
            </a:extLst>
          </p:cNvPr>
          <p:cNvSpPr>
            <a:spLocks xmlns:a="http://schemas.openxmlformats.org/drawingml/2006/main" noGrp="1"/>
          </p:cNvSpPr>
          <p:nvPr/>
        </p:nvSpPr>
        <p:spPr>
          <a:xfrm xmlns:a="http://schemas.openxmlformats.org/drawingml/2006/main">
            <a:off x="6391275" y="352425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Analyze current state, gaps, and forward flags.</a:t>
            </a:r>
          </a:p>
        </p:txBody>
      </p:sp>
      <p:sp>
        <p:nvSpPr>
          <p:cNvPr id="19" name="">
            <a:extLst xmlns:a="http://schemas.openxmlformats.org/drawingml/2006/main">
              <a:ext uri="{FF2B5EF4-FFF2-40B4-BE49-F238E27FC236}">
                <a16:creationId xmlns:a16="http://schemas.microsoft.com/office/drawing/2014/main" id="{77BC92BE-4106-4839-8623-8C8D4A60737B}"/>
              </a:ext>
            </a:extLst>
          </p:cNvPr>
          <p:cNvSpPr>
            <a:spLocks xmlns:a="http://schemas.openxmlformats.org/drawingml/2006/main" noGrp="1"/>
          </p:cNvSpPr>
          <p:nvPr/>
        </p:nvSpPr>
        <p:spPr>
          <a:xfrm xmlns:a="http://schemas.openxmlformats.org/drawingml/2006/main">
            <a:off x="8610600" y="3143250"/>
            <a:ext cx="23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77C72"/>
                </a:solidFill>
                <a:latin typeface="Arial"/>
                <a:ea typeface="Arial"/>
                <a:cs typeface="Arial"/>
              </a:defRPr>
            </a:pPr>
            <a:r>
              <a:rPr sz="1875" b="1">
                <a:solidFill>
                  <a:srgbClr val="F77C7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520F599-3A1A-4461-9016-F410B0121900}"/>
              </a:ext>
            </a:extLst>
          </p:cNvPr>
          <p:cNvSpPr>
            <a:spLocks xmlns:a="http://schemas.openxmlformats.org/drawingml/2006/main" noGrp="1"/>
          </p:cNvSpPr>
          <p:nvPr/>
        </p:nvSpPr>
        <p:spPr>
          <a:xfrm xmlns:a="http://schemas.openxmlformats.org/drawingml/2006/main">
            <a:off x="8934450" y="2209800"/>
            <a:ext cx="24003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21" name="">
            <a:extLst xmlns:a="http://schemas.openxmlformats.org/drawingml/2006/main">
              <a:ext uri="{FF2B5EF4-FFF2-40B4-BE49-F238E27FC236}">
                <a16:creationId xmlns:a16="http://schemas.microsoft.com/office/drawing/2014/main" id="{DE8DB535-EDA1-44A3-B92E-DF355B77D652}"/>
              </a:ext>
            </a:extLst>
          </p:cNvPr>
          <p:cNvSpPr>
            <a:spLocks xmlns:a="http://schemas.openxmlformats.org/drawingml/2006/main" noGrp="1"/>
          </p:cNvSpPr>
          <p:nvPr/>
        </p:nvSpPr>
        <p:spPr>
          <a:xfrm xmlns:a="http://schemas.openxmlformats.org/drawingml/2006/main">
            <a:off x="9172575" y="24288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2A7DE1"/>
                </a:solidFill>
                <a:latin typeface="Arial"/>
                <a:ea typeface="Arial"/>
                <a:cs typeface="Arial"/>
              </a:defRPr>
            </a:pPr>
            <a:r>
              <a:rPr sz="2325" b="1">
                <a:solidFill>
                  <a:srgbClr val="2A7DE1"/>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A69AF20B-9643-4D8C-9ACF-EA0A0164D96D}"/>
              </a:ext>
            </a:extLst>
          </p:cNvPr>
          <p:cNvSpPr>
            <a:spLocks xmlns:a="http://schemas.openxmlformats.org/drawingml/2006/main" noGrp="1"/>
          </p:cNvSpPr>
          <p:nvPr/>
        </p:nvSpPr>
        <p:spPr>
          <a:xfrm xmlns:a="http://schemas.openxmlformats.org/drawingml/2006/main">
            <a:off x="9172575" y="3105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2238"/>
                </a:solidFill>
                <a:latin typeface="Arial"/>
                <a:ea typeface="Arial"/>
                <a:cs typeface="Arial"/>
              </a:defRPr>
            </a:pPr>
            <a:r>
              <a:rPr sz="1875" b="1">
                <a:solidFill>
                  <a:srgbClr val="102238"/>
                </a:solidFill>
                <a:latin typeface="Arial"/>
                <a:ea typeface="Arial"/>
                <a:cs typeface="Arial"/>
              </a:rPr>
              <a:t>Trace</a:t>
            </a:r>
          </a:p>
        </p:txBody>
      </p:sp>
      <p:sp>
        <p:nvSpPr>
          <p:cNvPr id="23" name="">
            <a:extLst xmlns:a="http://schemas.openxmlformats.org/drawingml/2006/main">
              <a:ext uri="{FF2B5EF4-FFF2-40B4-BE49-F238E27FC236}">
                <a16:creationId xmlns:a16="http://schemas.microsoft.com/office/drawing/2014/main" id="{A1F37BB6-7C79-4252-8E36-4E15066AA33A}"/>
              </a:ext>
            </a:extLst>
          </p:cNvPr>
          <p:cNvSpPr>
            <a:spLocks xmlns:a="http://schemas.openxmlformats.org/drawingml/2006/main" noGrp="1"/>
          </p:cNvSpPr>
          <p:nvPr/>
        </p:nvSpPr>
        <p:spPr>
          <a:xfrm xmlns:a="http://schemas.openxmlformats.org/drawingml/2006/main">
            <a:off x="9172575" y="352425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Link findings back to cited source evidence.</a:t>
            </a:r>
          </a:p>
        </p:txBody>
      </p:sp>
      <p:sp>
        <p:nvSpPr>
          <p:cNvPr id="24" name="">
            <a:extLst xmlns:a="http://schemas.openxmlformats.org/drawingml/2006/main">
              <a:ext uri="{FF2B5EF4-FFF2-40B4-BE49-F238E27FC236}">
                <a16:creationId xmlns:a16="http://schemas.microsoft.com/office/drawing/2014/main" id="{209BC189-1784-4239-87F1-778F552237DE}"/>
              </a:ext>
            </a:extLst>
          </p:cNvPr>
          <p:cNvSpPr>
            <a:spLocks xmlns:a="http://schemas.openxmlformats.org/drawingml/2006/main" noGrp="1"/>
          </p:cNvSpPr>
          <p:nvPr/>
        </p:nvSpPr>
        <p:spPr>
          <a:xfrm xmlns:a="http://schemas.openxmlformats.org/drawingml/2006/main">
            <a:off x="590550" y="529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238"/>
                </a:solidFill>
                <a:latin typeface="Arial"/>
                <a:ea typeface="Arial"/>
                <a:cs typeface="Arial"/>
              </a:defRPr>
            </a:pPr>
            <a:r>
              <a:rPr sz="1800" b="1">
                <a:solidFill>
                  <a:srgbClr val="102238"/>
                </a:solidFill>
                <a:latin typeface="Arial"/>
                <a:ea typeface="Arial"/>
                <a:cs typeface="Arial"/>
              </a:rPr>
              <a:t>The product never treats an unsupported claim as a fact.</a:t>
            </a:r>
          </a:p>
        </p:txBody>
      </p:sp>
    </p:spTree>
    <p:extLst>
      <p:ext uri="{BB962C8B-B14F-4D97-AF65-F5344CB8AC3E}">
        <p14:creationId xmlns:p14="http://schemas.microsoft.com/office/powerpoint/2010/main" val="359626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D7E693D-2294-46D0-A7E4-BDA161CD2A76}"/>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THE USER JOURNEY</a:t>
            </a:r>
          </a:p>
        </p:txBody>
      </p:sp>
      <p:sp>
        <p:nvSpPr>
          <p:cNvPr id="2" name="">
            <a:extLst xmlns:a="http://schemas.openxmlformats.org/drawingml/2006/main">
              <a:ext uri="{FF2B5EF4-FFF2-40B4-BE49-F238E27FC236}">
                <a16:creationId xmlns:a16="http://schemas.microsoft.com/office/drawing/2014/main" id="{A241D3CD-D97D-418B-8129-64CC45FB70E3}"/>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899"/>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One workflow takes a team from raw files to a focused financial review.</a:t>
            </a:r>
          </a:p>
        </p:txBody>
      </p:sp>
      <p:sp>
        <p:nvSpPr>
          <p:cNvPr id="3" name="">
            <a:extLst xmlns:a="http://schemas.openxmlformats.org/drawingml/2006/main">
              <a:ext uri="{FF2B5EF4-FFF2-40B4-BE49-F238E27FC236}">
                <a16:creationId xmlns:a16="http://schemas.microsoft.com/office/drawing/2014/main" id="{CE1EFE97-EDF2-45FD-A10E-631611663F4A}"/>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BA0A846D-D219-4802-B34A-313E5D0250CB}"/>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348C616-BE3E-456D-812F-2ACA79829F5D}"/>
              </a:ext>
            </a:extLst>
          </p:cNvPr>
          <p:cNvSpPr>
            <a:spLocks xmlns:a="http://schemas.openxmlformats.org/drawingml/2006/main" noGrp="1"/>
          </p:cNvSpPr>
          <p:nvPr/>
        </p:nvSpPr>
        <p:spPr>
          <a:xfrm xmlns:a="http://schemas.openxmlformats.org/drawingml/2006/main">
            <a:off x="619125" y="2076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A7DE1"/>
                </a:solidFill>
                <a:latin typeface="Arial"/>
                <a:ea typeface="Arial"/>
                <a:cs typeface="Arial"/>
              </a:defRPr>
            </a:pPr>
            <a:r>
              <a:rPr sz="1200" b="1">
                <a:solidFill>
                  <a:srgbClr val="2A7DE1"/>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C91D78E-C032-4A7F-A5B2-AE9AB5813D33}"/>
              </a:ext>
            </a:extLst>
          </p:cNvPr>
          <p:cNvSpPr>
            <a:spLocks xmlns:a="http://schemas.openxmlformats.org/drawingml/2006/main" noGrp="1"/>
          </p:cNvSpPr>
          <p:nvPr/>
        </p:nvSpPr>
        <p:spPr>
          <a:xfrm xmlns:a="http://schemas.openxmlformats.org/drawingml/2006/main">
            <a:off x="619125" y="2543175"/>
            <a:ext cx="1619250" cy="1066800"/>
          </a:xfrm>
          <a:prstGeom xmlns:a="http://schemas.openxmlformats.org/drawingml/2006/main" prst="roundRect">
            <a:avLst>
              <a:gd name="adj" fmla="val 10714"/>
            </a:avLst>
          </a:prstGeom>
          <a:solidFill xmlns:a="http://schemas.openxmlformats.org/drawingml/2006/main">
            <a:srgbClr val="EAF2FA"/>
          </a:solidFill>
          <a:ln xmlns:a="http://schemas.openxmlformats.org/drawingml/2006/main" w="9525">
            <a:solidFill>
              <a:srgbClr val="C7D5E4"/>
            </a:solidFill>
            <a:prstDash val="solid"/>
          </a:ln>
        </p:spPr>
      </p:sp>
      <p:sp>
        <p:nvSpPr>
          <p:cNvPr id="7" name="">
            <a:extLst xmlns:a="http://schemas.openxmlformats.org/drawingml/2006/main">
              <a:ext uri="{FF2B5EF4-FFF2-40B4-BE49-F238E27FC236}">
                <a16:creationId xmlns:a16="http://schemas.microsoft.com/office/drawing/2014/main" id="{E24D126C-B37F-462A-B350-C45919260DB6}"/>
              </a:ext>
            </a:extLst>
          </p:cNvPr>
          <p:cNvSpPr>
            <a:spLocks xmlns:a="http://schemas.openxmlformats.org/drawingml/2006/main" noGrp="1"/>
          </p:cNvSpPr>
          <p:nvPr/>
        </p:nvSpPr>
        <p:spPr>
          <a:xfrm xmlns:a="http://schemas.openxmlformats.org/drawingml/2006/main">
            <a:off x="771525" y="2743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Sign in</a:t>
            </a:r>
          </a:p>
        </p:txBody>
      </p:sp>
      <p:sp>
        <p:nvSpPr>
          <p:cNvPr id="8" name="">
            <a:extLst xmlns:a="http://schemas.openxmlformats.org/drawingml/2006/main">
              <a:ext uri="{FF2B5EF4-FFF2-40B4-BE49-F238E27FC236}">
                <a16:creationId xmlns:a16="http://schemas.microsoft.com/office/drawing/2014/main" id="{CD6625B7-479F-4981-A0AF-6622753F6562}"/>
              </a:ext>
            </a:extLst>
          </p:cNvPr>
          <p:cNvSpPr>
            <a:spLocks xmlns:a="http://schemas.openxmlformats.org/drawingml/2006/main" noGrp="1"/>
          </p:cNvSpPr>
          <p:nvPr/>
        </p:nvSpPr>
        <p:spPr>
          <a:xfrm xmlns:a="http://schemas.openxmlformats.org/drawingml/2006/main">
            <a:off x="771525" y="3124200"/>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Use the workspace securely.</a:t>
            </a:r>
          </a:p>
        </p:txBody>
      </p:sp>
      <p:sp>
        <p:nvSpPr>
          <p:cNvPr id="9" name="">
            <a:extLst xmlns:a="http://schemas.openxmlformats.org/drawingml/2006/main">
              <a:ext uri="{FF2B5EF4-FFF2-40B4-BE49-F238E27FC236}">
                <a16:creationId xmlns:a16="http://schemas.microsoft.com/office/drawing/2014/main" id="{18759356-E6AB-4BFA-800B-98B7419345F7}"/>
              </a:ext>
            </a:extLst>
          </p:cNvPr>
          <p:cNvSpPr>
            <a:spLocks xmlns:a="http://schemas.openxmlformats.org/drawingml/2006/main" noGrp="1"/>
          </p:cNvSpPr>
          <p:nvPr/>
        </p:nvSpPr>
        <p:spPr>
          <a:xfrm xmlns:a="http://schemas.openxmlformats.org/drawingml/2006/main">
            <a:off x="2324100" y="2905125"/>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ctr">
              <a:defRPr sz="1650" b="1">
                <a:solidFill>
                  <a:srgbClr val="F77C72"/>
                </a:solidFill>
                <a:latin typeface="Arial"/>
                <a:ea typeface="Arial"/>
                <a:cs typeface="Arial"/>
              </a:defRPr>
            </a:pPr>
            <a:r>
              <a:rPr sz="1650" b="1">
                <a:solidFill>
                  <a:srgbClr val="F77C7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5746BC7-7F1E-430A-8D0D-8BBFF07773D7}"/>
              </a:ext>
            </a:extLst>
          </p:cNvPr>
          <p:cNvSpPr>
            <a:spLocks xmlns:a="http://schemas.openxmlformats.org/drawingml/2006/main" noGrp="1"/>
          </p:cNvSpPr>
          <p:nvPr/>
        </p:nvSpPr>
        <p:spPr>
          <a:xfrm xmlns:a="http://schemas.openxmlformats.org/drawingml/2006/main">
            <a:off x="2800350" y="2076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A7DE1"/>
                </a:solidFill>
                <a:latin typeface="Arial"/>
                <a:ea typeface="Arial"/>
                <a:cs typeface="Arial"/>
              </a:defRPr>
            </a:pPr>
            <a:r>
              <a:rPr sz="1200" b="1">
                <a:solidFill>
                  <a:srgbClr val="2A7DE1"/>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3E01759C-F19E-4BDF-BB0A-827F1FE58672}"/>
              </a:ext>
            </a:extLst>
          </p:cNvPr>
          <p:cNvSpPr>
            <a:spLocks xmlns:a="http://schemas.openxmlformats.org/drawingml/2006/main" noGrp="1"/>
          </p:cNvSpPr>
          <p:nvPr/>
        </p:nvSpPr>
        <p:spPr>
          <a:xfrm xmlns:a="http://schemas.openxmlformats.org/drawingml/2006/main">
            <a:off x="2800350" y="2543175"/>
            <a:ext cx="1619250" cy="1066800"/>
          </a:xfrm>
          <a:prstGeom xmlns:a="http://schemas.openxmlformats.org/drawingml/2006/main" prst="roundRect">
            <a:avLst>
              <a:gd name="adj" fmla="val 10714"/>
            </a:avLst>
          </a:prstGeom>
          <a:solidFill xmlns:a="http://schemas.openxmlformats.org/drawingml/2006/main">
            <a:srgbClr val="EAF2FA"/>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86E867AC-87C6-4381-8869-F716A553FDFC}"/>
              </a:ext>
            </a:extLst>
          </p:cNvPr>
          <p:cNvSpPr>
            <a:spLocks xmlns:a="http://schemas.openxmlformats.org/drawingml/2006/main" noGrp="1"/>
          </p:cNvSpPr>
          <p:nvPr/>
        </p:nvSpPr>
        <p:spPr>
          <a:xfrm xmlns:a="http://schemas.openxmlformats.org/drawingml/2006/main">
            <a:off x="2952750" y="2743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Upload</a:t>
            </a:r>
          </a:p>
        </p:txBody>
      </p:sp>
      <p:sp>
        <p:nvSpPr>
          <p:cNvPr id="13" name="">
            <a:extLst xmlns:a="http://schemas.openxmlformats.org/drawingml/2006/main">
              <a:ext uri="{FF2B5EF4-FFF2-40B4-BE49-F238E27FC236}">
                <a16:creationId xmlns:a16="http://schemas.microsoft.com/office/drawing/2014/main" id="{805E44C0-7171-44AD-9F11-8AD40C2DF58C}"/>
              </a:ext>
            </a:extLst>
          </p:cNvPr>
          <p:cNvSpPr>
            <a:spLocks xmlns:a="http://schemas.openxmlformats.org/drawingml/2006/main" noGrp="1"/>
          </p:cNvSpPr>
          <p:nvPr/>
        </p:nvSpPr>
        <p:spPr>
          <a:xfrm xmlns:a="http://schemas.openxmlformats.org/drawingml/2006/main">
            <a:off x="2952750" y="3124200"/>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Add PDF, CSV, XLSX, or XLS files.</a:t>
            </a:r>
          </a:p>
        </p:txBody>
      </p:sp>
      <p:sp>
        <p:nvSpPr>
          <p:cNvPr id="14" name="">
            <a:extLst xmlns:a="http://schemas.openxmlformats.org/drawingml/2006/main">
              <a:ext uri="{FF2B5EF4-FFF2-40B4-BE49-F238E27FC236}">
                <a16:creationId xmlns:a16="http://schemas.microsoft.com/office/drawing/2014/main" id="{CD2CDA48-6C46-424E-8758-872CD0282499}"/>
              </a:ext>
            </a:extLst>
          </p:cNvPr>
          <p:cNvSpPr>
            <a:spLocks xmlns:a="http://schemas.openxmlformats.org/drawingml/2006/main" noGrp="1"/>
          </p:cNvSpPr>
          <p:nvPr/>
        </p:nvSpPr>
        <p:spPr>
          <a:xfrm xmlns:a="http://schemas.openxmlformats.org/drawingml/2006/main">
            <a:off x="4505325" y="2905125"/>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ctr">
              <a:defRPr sz="1650" b="1">
                <a:solidFill>
                  <a:srgbClr val="F77C72"/>
                </a:solidFill>
                <a:latin typeface="Arial"/>
                <a:ea typeface="Arial"/>
                <a:cs typeface="Arial"/>
              </a:defRPr>
            </a:pPr>
            <a:r>
              <a:rPr sz="1650" b="1">
                <a:solidFill>
                  <a:srgbClr val="F77C7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ACE83BE-8650-4775-979C-493126BC52BB}"/>
              </a:ext>
            </a:extLst>
          </p:cNvPr>
          <p:cNvSpPr>
            <a:spLocks xmlns:a="http://schemas.openxmlformats.org/drawingml/2006/main" noGrp="1"/>
          </p:cNvSpPr>
          <p:nvPr/>
        </p:nvSpPr>
        <p:spPr>
          <a:xfrm xmlns:a="http://schemas.openxmlformats.org/drawingml/2006/main">
            <a:off x="4981575" y="2076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A7DE1"/>
                </a:solidFill>
                <a:latin typeface="Arial"/>
                <a:ea typeface="Arial"/>
                <a:cs typeface="Arial"/>
              </a:defRPr>
            </a:pPr>
            <a:r>
              <a:rPr sz="1200" b="1">
                <a:solidFill>
                  <a:srgbClr val="2A7DE1"/>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95C4DAF-E7EA-4D46-871F-6262BD834C60}"/>
              </a:ext>
            </a:extLst>
          </p:cNvPr>
          <p:cNvSpPr>
            <a:spLocks xmlns:a="http://schemas.openxmlformats.org/drawingml/2006/main" noGrp="1"/>
          </p:cNvSpPr>
          <p:nvPr/>
        </p:nvSpPr>
        <p:spPr>
          <a:xfrm xmlns:a="http://schemas.openxmlformats.org/drawingml/2006/main">
            <a:off x="4981575" y="2543175"/>
            <a:ext cx="1619250" cy="1066800"/>
          </a:xfrm>
          <a:prstGeom xmlns:a="http://schemas.openxmlformats.org/drawingml/2006/main" prst="roundRect">
            <a:avLst>
              <a:gd name="adj" fmla="val 10714"/>
            </a:avLst>
          </a:prstGeom>
          <a:solidFill xmlns:a="http://schemas.openxmlformats.org/drawingml/2006/main">
            <a:srgbClr val="EAF2FA"/>
          </a:solidFill>
          <a:ln xmlns:a="http://schemas.openxmlformats.org/drawingml/2006/main" w="9525">
            <a:solidFill>
              <a:srgbClr val="C7D5E4"/>
            </a:solidFill>
            <a:prstDash val="solid"/>
          </a:ln>
        </p:spPr>
      </p:sp>
      <p:sp>
        <p:nvSpPr>
          <p:cNvPr id="17" name="">
            <a:extLst xmlns:a="http://schemas.openxmlformats.org/drawingml/2006/main">
              <a:ext uri="{FF2B5EF4-FFF2-40B4-BE49-F238E27FC236}">
                <a16:creationId xmlns:a16="http://schemas.microsoft.com/office/drawing/2014/main" id="{E96E4478-DC30-4122-9645-7258D7AF4AA0}"/>
              </a:ext>
            </a:extLst>
          </p:cNvPr>
          <p:cNvSpPr>
            <a:spLocks xmlns:a="http://schemas.openxmlformats.org/drawingml/2006/main" noGrp="1"/>
          </p:cNvSpPr>
          <p:nvPr/>
        </p:nvSpPr>
        <p:spPr>
          <a:xfrm xmlns:a="http://schemas.openxmlformats.org/drawingml/2006/main">
            <a:off x="5133975" y="2743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Select</a:t>
            </a:r>
          </a:p>
        </p:txBody>
      </p:sp>
      <p:sp>
        <p:nvSpPr>
          <p:cNvPr id="18" name="">
            <a:extLst xmlns:a="http://schemas.openxmlformats.org/drawingml/2006/main">
              <a:ext uri="{FF2B5EF4-FFF2-40B4-BE49-F238E27FC236}">
                <a16:creationId xmlns:a16="http://schemas.microsoft.com/office/drawing/2014/main" id="{22158485-9C7B-4046-A7C4-E83CC5A097D8}"/>
              </a:ext>
            </a:extLst>
          </p:cNvPr>
          <p:cNvSpPr>
            <a:spLocks xmlns:a="http://schemas.openxmlformats.org/drawingml/2006/main" noGrp="1"/>
          </p:cNvSpPr>
          <p:nvPr/>
        </p:nvSpPr>
        <p:spPr>
          <a:xfrm xmlns:a="http://schemas.openxmlformats.org/drawingml/2006/main">
            <a:off x="5133975" y="3124200"/>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03"/>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Choose the documents that matter.</a:t>
            </a:r>
          </a:p>
        </p:txBody>
      </p:sp>
      <p:sp>
        <p:nvSpPr>
          <p:cNvPr id="19" name="">
            <a:extLst xmlns:a="http://schemas.openxmlformats.org/drawingml/2006/main">
              <a:ext uri="{FF2B5EF4-FFF2-40B4-BE49-F238E27FC236}">
                <a16:creationId xmlns:a16="http://schemas.microsoft.com/office/drawing/2014/main" id="{84C86D14-1004-46DE-A424-2DD729A2C556}"/>
              </a:ext>
            </a:extLst>
          </p:cNvPr>
          <p:cNvSpPr>
            <a:spLocks xmlns:a="http://schemas.openxmlformats.org/drawingml/2006/main" noGrp="1"/>
          </p:cNvSpPr>
          <p:nvPr/>
        </p:nvSpPr>
        <p:spPr>
          <a:xfrm xmlns:a="http://schemas.openxmlformats.org/drawingml/2006/main">
            <a:off x="6686550" y="2905125"/>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ctr">
              <a:defRPr sz="1650" b="1">
                <a:solidFill>
                  <a:srgbClr val="F77C72"/>
                </a:solidFill>
                <a:latin typeface="Arial"/>
                <a:ea typeface="Arial"/>
                <a:cs typeface="Arial"/>
              </a:defRPr>
            </a:pPr>
            <a:r>
              <a:rPr sz="1650" b="1">
                <a:solidFill>
                  <a:srgbClr val="F77C7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62D8BAD4-CC58-476A-BDFA-C57A8F21A6ED}"/>
              </a:ext>
            </a:extLst>
          </p:cNvPr>
          <p:cNvSpPr>
            <a:spLocks xmlns:a="http://schemas.openxmlformats.org/drawingml/2006/main" noGrp="1"/>
          </p:cNvSpPr>
          <p:nvPr/>
        </p:nvSpPr>
        <p:spPr>
          <a:xfrm xmlns:a="http://schemas.openxmlformats.org/drawingml/2006/main">
            <a:off x="7162800" y="2076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A7DE1"/>
                </a:solidFill>
                <a:latin typeface="Arial"/>
                <a:ea typeface="Arial"/>
                <a:cs typeface="Arial"/>
              </a:defRPr>
            </a:pPr>
            <a:r>
              <a:rPr sz="1200" b="1">
                <a:solidFill>
                  <a:srgbClr val="2A7DE1"/>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E87984C5-BE55-4505-91CC-D2C98B28F312}"/>
              </a:ext>
            </a:extLst>
          </p:cNvPr>
          <p:cNvSpPr>
            <a:spLocks xmlns:a="http://schemas.openxmlformats.org/drawingml/2006/main" noGrp="1"/>
          </p:cNvSpPr>
          <p:nvPr/>
        </p:nvSpPr>
        <p:spPr>
          <a:xfrm xmlns:a="http://schemas.openxmlformats.org/drawingml/2006/main">
            <a:off x="7162800" y="2543175"/>
            <a:ext cx="1619250" cy="1066800"/>
          </a:xfrm>
          <a:prstGeom xmlns:a="http://schemas.openxmlformats.org/drawingml/2006/main" prst="roundRect">
            <a:avLst>
              <a:gd name="adj" fmla="val 10714"/>
            </a:avLst>
          </a:prstGeom>
          <a:solidFill xmlns:a="http://schemas.openxmlformats.org/drawingml/2006/main">
            <a:srgbClr val="0B1A2C"/>
          </a:solidFill>
          <a:ln xmlns:a="http://schemas.openxmlformats.org/drawingml/2006/main" w="9525">
            <a:solidFill>
              <a:srgbClr val="C7D5E4"/>
            </a:solidFill>
            <a:prstDash val="solid"/>
          </a:ln>
        </p:spPr>
      </p:sp>
      <p:sp>
        <p:nvSpPr>
          <p:cNvPr id="22" name="">
            <a:extLst xmlns:a="http://schemas.openxmlformats.org/drawingml/2006/main">
              <a:ext uri="{FF2B5EF4-FFF2-40B4-BE49-F238E27FC236}">
                <a16:creationId xmlns:a16="http://schemas.microsoft.com/office/drawing/2014/main" id="{0B14AD84-8C05-4634-877F-F2CDB9BA4DA6}"/>
              </a:ext>
            </a:extLst>
          </p:cNvPr>
          <p:cNvSpPr>
            <a:spLocks xmlns:a="http://schemas.openxmlformats.org/drawingml/2006/main" noGrp="1"/>
          </p:cNvSpPr>
          <p:nvPr/>
        </p:nvSpPr>
        <p:spPr>
          <a:xfrm xmlns:a="http://schemas.openxmlformats.org/drawingml/2006/main">
            <a:off x="7315200" y="2743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Analyze</a:t>
            </a:r>
          </a:p>
        </p:txBody>
      </p:sp>
      <p:sp>
        <p:nvSpPr>
          <p:cNvPr id="23" name="">
            <a:extLst xmlns:a="http://schemas.openxmlformats.org/drawingml/2006/main">
              <a:ext uri="{FF2B5EF4-FFF2-40B4-BE49-F238E27FC236}">
                <a16:creationId xmlns:a16="http://schemas.microsoft.com/office/drawing/2014/main" id="{D7533F65-2170-47C3-B0F2-9352B1187AB8}"/>
              </a:ext>
            </a:extLst>
          </p:cNvPr>
          <p:cNvSpPr>
            <a:spLocks xmlns:a="http://schemas.openxmlformats.org/drawingml/2006/main" noGrp="1"/>
          </p:cNvSpPr>
          <p:nvPr/>
        </p:nvSpPr>
        <p:spPr>
          <a:xfrm xmlns:a="http://schemas.openxmlformats.org/drawingml/2006/main">
            <a:off x="7315200" y="3124200"/>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063"/>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Run the source-aware analysis.</a:t>
            </a:r>
          </a:p>
        </p:txBody>
      </p:sp>
      <p:sp>
        <p:nvSpPr>
          <p:cNvPr id="24" name="">
            <a:extLst xmlns:a="http://schemas.openxmlformats.org/drawingml/2006/main">
              <a:ext uri="{FF2B5EF4-FFF2-40B4-BE49-F238E27FC236}">
                <a16:creationId xmlns:a16="http://schemas.microsoft.com/office/drawing/2014/main" id="{C3E15DCD-6717-4B0D-A4D5-6593FED93479}"/>
              </a:ext>
            </a:extLst>
          </p:cNvPr>
          <p:cNvSpPr>
            <a:spLocks xmlns:a="http://schemas.openxmlformats.org/drawingml/2006/main" noGrp="1"/>
          </p:cNvSpPr>
          <p:nvPr/>
        </p:nvSpPr>
        <p:spPr>
          <a:xfrm xmlns:a="http://schemas.openxmlformats.org/drawingml/2006/main">
            <a:off x="8867775" y="2905125"/>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ctr">
              <a:defRPr sz="1650" b="1">
                <a:solidFill>
                  <a:srgbClr val="F77C72"/>
                </a:solidFill>
                <a:latin typeface="Arial"/>
                <a:ea typeface="Arial"/>
                <a:cs typeface="Arial"/>
              </a:defRPr>
            </a:pPr>
            <a:r>
              <a:rPr sz="1650" b="1">
                <a:solidFill>
                  <a:srgbClr val="F77C7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25FDE546-6008-46C7-9F2F-C003948AD624}"/>
              </a:ext>
            </a:extLst>
          </p:cNvPr>
          <p:cNvSpPr>
            <a:spLocks xmlns:a="http://schemas.openxmlformats.org/drawingml/2006/main" noGrp="1"/>
          </p:cNvSpPr>
          <p:nvPr/>
        </p:nvSpPr>
        <p:spPr>
          <a:xfrm xmlns:a="http://schemas.openxmlformats.org/drawingml/2006/main">
            <a:off x="9344025" y="2076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A7DE1"/>
                </a:solidFill>
                <a:latin typeface="Arial"/>
                <a:ea typeface="Arial"/>
                <a:cs typeface="Arial"/>
              </a:defRPr>
            </a:pPr>
            <a:r>
              <a:rPr sz="1200" b="1">
                <a:solidFill>
                  <a:srgbClr val="2A7DE1"/>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57458A00-0AFF-4822-AB42-5B916A8DF3C5}"/>
              </a:ext>
            </a:extLst>
          </p:cNvPr>
          <p:cNvSpPr>
            <a:spLocks xmlns:a="http://schemas.openxmlformats.org/drawingml/2006/main" noGrp="1"/>
          </p:cNvSpPr>
          <p:nvPr/>
        </p:nvSpPr>
        <p:spPr>
          <a:xfrm xmlns:a="http://schemas.openxmlformats.org/drawingml/2006/main">
            <a:off x="9344025" y="2543175"/>
            <a:ext cx="1619250" cy="1066800"/>
          </a:xfrm>
          <a:prstGeom xmlns:a="http://schemas.openxmlformats.org/drawingml/2006/main" prst="roundRect">
            <a:avLst>
              <a:gd name="adj" fmla="val 10714"/>
            </a:avLst>
          </a:prstGeom>
          <a:solidFill xmlns:a="http://schemas.openxmlformats.org/drawingml/2006/main">
            <a:srgbClr val="EAF2FA"/>
          </a:solidFill>
          <a:ln xmlns:a="http://schemas.openxmlformats.org/drawingml/2006/main" w="9525">
            <a:solidFill>
              <a:srgbClr val="C7D5E4"/>
            </a:solidFill>
            <a:prstDash val="solid"/>
          </a:ln>
        </p:spPr>
      </p:sp>
      <p:sp>
        <p:nvSpPr>
          <p:cNvPr id="27" name="">
            <a:extLst xmlns:a="http://schemas.openxmlformats.org/drawingml/2006/main">
              <a:ext uri="{FF2B5EF4-FFF2-40B4-BE49-F238E27FC236}">
                <a16:creationId xmlns:a16="http://schemas.microsoft.com/office/drawing/2014/main" id="{87290306-6000-4FC6-834B-08D3DB36F53D}"/>
              </a:ext>
            </a:extLst>
          </p:cNvPr>
          <p:cNvSpPr>
            <a:spLocks xmlns:a="http://schemas.openxmlformats.org/drawingml/2006/main" noGrp="1"/>
          </p:cNvSpPr>
          <p:nvPr/>
        </p:nvSpPr>
        <p:spPr>
          <a:xfrm xmlns:a="http://schemas.openxmlformats.org/drawingml/2006/main">
            <a:off x="9496425" y="2743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Review</a:t>
            </a:r>
          </a:p>
        </p:txBody>
      </p:sp>
      <p:sp>
        <p:nvSpPr>
          <p:cNvPr id="28" name="">
            <a:extLst xmlns:a="http://schemas.openxmlformats.org/drawingml/2006/main">
              <a:ext uri="{FF2B5EF4-FFF2-40B4-BE49-F238E27FC236}">
                <a16:creationId xmlns:a16="http://schemas.microsoft.com/office/drawing/2014/main" id="{0402D72B-C1DF-4531-BEC6-FD62565DA9EF}"/>
              </a:ext>
            </a:extLst>
          </p:cNvPr>
          <p:cNvSpPr>
            <a:spLocks xmlns:a="http://schemas.openxmlformats.org/drawingml/2006/main" noGrp="1"/>
          </p:cNvSpPr>
          <p:nvPr/>
        </p:nvSpPr>
        <p:spPr>
          <a:xfrm xmlns:a="http://schemas.openxmlformats.org/drawingml/2006/main">
            <a:off x="9496425" y="3124200"/>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1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Inspect signals, gaps, flags, and citations.</a:t>
            </a:r>
          </a:p>
        </p:txBody>
      </p:sp>
      <p:sp>
        <p:nvSpPr>
          <p:cNvPr id="29" name="">
            <a:extLst xmlns:a="http://schemas.openxmlformats.org/drawingml/2006/main">
              <a:ext uri="{FF2B5EF4-FFF2-40B4-BE49-F238E27FC236}">
                <a16:creationId xmlns:a16="http://schemas.microsoft.com/office/drawing/2014/main" id="{FC07D8A6-8073-46B8-AA45-154DDDBE393F}"/>
              </a:ext>
            </a:extLst>
          </p:cNvPr>
          <p:cNvSpPr>
            <a:spLocks xmlns:a="http://schemas.openxmlformats.org/drawingml/2006/main" noGrp="1"/>
          </p:cNvSpPr>
          <p:nvPr/>
        </p:nvSpPr>
        <p:spPr>
          <a:xfrm xmlns:a="http://schemas.openxmlformats.org/drawingml/2006/main">
            <a:off x="619125" y="461962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02"/>
          </a:bodyPr>
          <a:lstStyle xmlns:a="http://schemas.openxmlformats.org/drawingml/2006/main"/>
          <a:p xmlns:a="http://schemas.openxmlformats.org/drawingml/2006/main">
            <a:pPr algn="l">
              <a:defRPr sz="2025" b="1">
                <a:solidFill>
                  <a:srgbClr val="102238"/>
                </a:solidFill>
                <a:latin typeface="Arial"/>
                <a:ea typeface="Arial"/>
                <a:cs typeface="Arial"/>
              </a:defRPr>
            </a:pPr>
            <a:r>
              <a:rPr sz="2025" b="1">
                <a:solidFill>
                  <a:srgbClr val="102238"/>
                </a:solidFill>
                <a:latin typeface="Arial"/>
                <a:ea typeface="Arial"/>
                <a:cs typeface="Arial"/>
              </a:rPr>
              <a:t>The analysis starts from the selected documents — not from assumptions.</a:t>
            </a:r>
          </a:p>
        </p:txBody>
      </p:sp>
    </p:spTree>
    <p:extLst>
      <p:ext uri="{BB962C8B-B14F-4D97-AF65-F5344CB8AC3E}">
        <p14:creationId xmlns:p14="http://schemas.microsoft.com/office/powerpoint/2010/main" val="1850280289"/>
      </p:ext>
    </p:extLst>
  </p:cSld>
</p:sld>
</file>

<file path=ppt/slides/slide5.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76D5BD4-4BF4-47C7-B91C-F66A44B18CEE}"/>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PRODUCT ARCHITECTURE</a:t>
            </a:r>
          </a:p>
        </p:txBody>
      </p:sp>
      <p:sp>
        <p:nvSpPr>
          <p:cNvPr id="2" name="">
            <a:extLst xmlns:a="http://schemas.openxmlformats.org/drawingml/2006/main">
              <a:ext uri="{FF2B5EF4-FFF2-40B4-BE49-F238E27FC236}">
                <a16:creationId xmlns:a16="http://schemas.microsoft.com/office/drawing/2014/main" id="{36850E95-41B0-4F82-8582-1D44E0EF8EB2}"/>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982"/>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A lightweight web application connects document ingestion, retrieval, and financial reasoning.</a:t>
            </a:r>
          </a:p>
        </p:txBody>
      </p:sp>
      <p:sp>
        <p:nvSpPr>
          <p:cNvPr id="3" name="">
            <a:extLst xmlns:a="http://schemas.openxmlformats.org/drawingml/2006/main">
              <a:ext uri="{FF2B5EF4-FFF2-40B4-BE49-F238E27FC236}">
                <a16:creationId xmlns:a16="http://schemas.microsoft.com/office/drawing/2014/main" id="{8D394949-9CF7-458F-A366-18E4AC3C324E}"/>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A59EBBCB-34DC-4340-B971-29EE17C5833A}"/>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6B791BC-DE55-4FD9-BFDA-D539E37DA092}"/>
              </a:ext>
            </a:extLst>
          </p:cNvPr>
          <p:cNvSpPr>
            <a:spLocks xmlns:a="http://schemas.openxmlformats.org/drawingml/2006/main" noGrp="1"/>
          </p:cNvSpPr>
          <p:nvPr/>
        </p:nvSpPr>
        <p:spPr>
          <a:xfrm xmlns:a="http://schemas.openxmlformats.org/drawingml/2006/main">
            <a:off x="685800" y="2095500"/>
            <a:ext cx="22098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D7118EB5-5DD2-4B3E-BE48-963B79F9D28A}"/>
              </a:ext>
            </a:extLst>
          </p:cNvPr>
          <p:cNvSpPr>
            <a:spLocks xmlns:a="http://schemas.openxmlformats.org/drawingml/2006/main" noGrp="1"/>
          </p:cNvSpPr>
          <p:nvPr/>
        </p:nvSpPr>
        <p:spPr>
          <a:xfrm xmlns:a="http://schemas.openxmlformats.org/drawingml/2006/main">
            <a:off x="857250" y="2286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React frontend</a:t>
            </a:r>
          </a:p>
        </p:txBody>
      </p:sp>
      <p:sp>
        <p:nvSpPr>
          <p:cNvPr id="7" name="">
            <a:extLst xmlns:a="http://schemas.openxmlformats.org/drawingml/2006/main">
              <a:ext uri="{FF2B5EF4-FFF2-40B4-BE49-F238E27FC236}">
                <a16:creationId xmlns:a16="http://schemas.microsoft.com/office/drawing/2014/main" id="{995C896E-34EB-4C3A-8F04-2CA258F3469F}"/>
              </a:ext>
            </a:extLst>
          </p:cNvPr>
          <p:cNvSpPr>
            <a:spLocks xmlns:a="http://schemas.openxmlformats.org/drawingml/2006/main" noGrp="1"/>
          </p:cNvSpPr>
          <p:nvPr/>
        </p:nvSpPr>
        <p:spPr>
          <a:xfrm xmlns:a="http://schemas.openxmlformats.org/drawingml/2006/main">
            <a:off x="857250" y="2609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Upload, selection, workspace</a:t>
            </a:r>
          </a:p>
        </p:txBody>
      </p:sp>
      <p:sp>
        <p:nvSpPr>
          <p:cNvPr id="8" name="">
            <a:extLst xmlns:a="http://schemas.openxmlformats.org/drawingml/2006/main">
              <a:ext uri="{FF2B5EF4-FFF2-40B4-BE49-F238E27FC236}">
                <a16:creationId xmlns:a16="http://schemas.microsoft.com/office/drawing/2014/main" id="{D64A1084-9394-418E-9B02-550DD6F53078}"/>
              </a:ext>
            </a:extLst>
          </p:cNvPr>
          <p:cNvSpPr>
            <a:spLocks xmlns:a="http://schemas.openxmlformats.org/drawingml/2006/main" noGrp="1"/>
          </p:cNvSpPr>
          <p:nvPr/>
        </p:nvSpPr>
        <p:spPr>
          <a:xfrm xmlns:a="http://schemas.openxmlformats.org/drawingml/2006/main">
            <a:off x="3657600" y="2095500"/>
            <a:ext cx="22098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03F65769-89E7-458A-9C73-6E969C198FE6}"/>
              </a:ext>
            </a:extLst>
          </p:cNvPr>
          <p:cNvSpPr>
            <a:spLocks xmlns:a="http://schemas.openxmlformats.org/drawingml/2006/main" noGrp="1"/>
          </p:cNvSpPr>
          <p:nvPr/>
        </p:nvSpPr>
        <p:spPr>
          <a:xfrm xmlns:a="http://schemas.openxmlformats.org/drawingml/2006/main">
            <a:off x="3829050" y="2286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FastAPI backend</a:t>
            </a:r>
          </a:p>
        </p:txBody>
      </p:sp>
      <p:sp>
        <p:nvSpPr>
          <p:cNvPr id="10" name="">
            <a:extLst xmlns:a="http://schemas.openxmlformats.org/drawingml/2006/main">
              <a:ext uri="{FF2B5EF4-FFF2-40B4-BE49-F238E27FC236}">
                <a16:creationId xmlns:a16="http://schemas.microsoft.com/office/drawing/2014/main" id="{573314EC-CEEC-425D-B6C2-710901804211}"/>
              </a:ext>
            </a:extLst>
          </p:cNvPr>
          <p:cNvSpPr>
            <a:spLocks xmlns:a="http://schemas.openxmlformats.org/drawingml/2006/main" noGrp="1"/>
          </p:cNvSpPr>
          <p:nvPr/>
        </p:nvSpPr>
        <p:spPr>
          <a:xfrm xmlns:a="http://schemas.openxmlformats.org/drawingml/2006/main">
            <a:off x="3829050" y="2609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5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Authentication, APIs, orchestration</a:t>
            </a:r>
          </a:p>
        </p:txBody>
      </p:sp>
      <p:sp>
        <p:nvSpPr>
          <p:cNvPr id="11" name="">
            <a:extLst xmlns:a="http://schemas.openxmlformats.org/drawingml/2006/main">
              <a:ext uri="{FF2B5EF4-FFF2-40B4-BE49-F238E27FC236}">
                <a16:creationId xmlns:a16="http://schemas.microsoft.com/office/drawing/2014/main" id="{C2ECCD1E-D400-4273-8AEB-057DCE301FC0}"/>
              </a:ext>
            </a:extLst>
          </p:cNvPr>
          <p:cNvSpPr>
            <a:spLocks xmlns:a="http://schemas.openxmlformats.org/drawingml/2006/main" noGrp="1"/>
          </p:cNvSpPr>
          <p:nvPr/>
        </p:nvSpPr>
        <p:spPr>
          <a:xfrm xmlns:a="http://schemas.openxmlformats.org/drawingml/2006/main">
            <a:off x="6629400" y="2095500"/>
            <a:ext cx="22098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BE3EAD24-47EF-4A51-9344-9AEF28E3419D}"/>
              </a:ext>
            </a:extLst>
          </p:cNvPr>
          <p:cNvSpPr>
            <a:spLocks xmlns:a="http://schemas.openxmlformats.org/drawingml/2006/main" noGrp="1"/>
          </p:cNvSpPr>
          <p:nvPr/>
        </p:nvSpPr>
        <p:spPr>
          <a:xfrm xmlns:a="http://schemas.openxmlformats.org/drawingml/2006/main">
            <a:off x="6800850" y="2286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Document layer</a:t>
            </a:r>
          </a:p>
        </p:txBody>
      </p:sp>
      <p:sp>
        <p:nvSpPr>
          <p:cNvPr id="13" name="">
            <a:extLst xmlns:a="http://schemas.openxmlformats.org/drawingml/2006/main">
              <a:ext uri="{FF2B5EF4-FFF2-40B4-BE49-F238E27FC236}">
                <a16:creationId xmlns:a16="http://schemas.microsoft.com/office/drawing/2014/main" id="{A565A21E-5661-4D05-BDAC-89A7484FA41B}"/>
              </a:ext>
            </a:extLst>
          </p:cNvPr>
          <p:cNvSpPr>
            <a:spLocks xmlns:a="http://schemas.openxmlformats.org/drawingml/2006/main" noGrp="1"/>
          </p:cNvSpPr>
          <p:nvPr/>
        </p:nvSpPr>
        <p:spPr>
          <a:xfrm xmlns:a="http://schemas.openxmlformats.org/drawingml/2006/main">
            <a:off x="6800850" y="2609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PDF / CSV / Excel parsing</a:t>
            </a:r>
          </a:p>
        </p:txBody>
      </p:sp>
      <p:sp>
        <p:nvSpPr>
          <p:cNvPr id="14" name="">
            <a:extLst xmlns:a="http://schemas.openxmlformats.org/drawingml/2006/main">
              <a:ext uri="{FF2B5EF4-FFF2-40B4-BE49-F238E27FC236}">
                <a16:creationId xmlns:a16="http://schemas.microsoft.com/office/drawing/2014/main" id="{5ECA5D70-45F7-41AF-A34B-A74BAF955180}"/>
              </a:ext>
            </a:extLst>
          </p:cNvPr>
          <p:cNvSpPr>
            <a:spLocks xmlns:a="http://schemas.openxmlformats.org/drawingml/2006/main" noGrp="1"/>
          </p:cNvSpPr>
          <p:nvPr/>
        </p:nvSpPr>
        <p:spPr>
          <a:xfrm xmlns:a="http://schemas.openxmlformats.org/drawingml/2006/main">
            <a:off x="6629400" y="4000500"/>
            <a:ext cx="22098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ABF09702-055B-43DD-A7F6-A94DB0968EF2}"/>
              </a:ext>
            </a:extLst>
          </p:cNvPr>
          <p:cNvSpPr>
            <a:spLocks xmlns:a="http://schemas.openxmlformats.org/drawingml/2006/main" noGrp="1"/>
          </p:cNvSpPr>
          <p:nvPr/>
        </p:nvSpPr>
        <p:spPr>
          <a:xfrm xmlns:a="http://schemas.openxmlformats.org/drawingml/2006/main">
            <a:off x="6800850" y="4191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RAG layer</a:t>
            </a:r>
          </a:p>
        </p:txBody>
      </p:sp>
      <p:sp>
        <p:nvSpPr>
          <p:cNvPr id="16" name="">
            <a:extLst xmlns:a="http://schemas.openxmlformats.org/drawingml/2006/main">
              <a:ext uri="{FF2B5EF4-FFF2-40B4-BE49-F238E27FC236}">
                <a16:creationId xmlns:a16="http://schemas.microsoft.com/office/drawing/2014/main" id="{554A23B6-25B7-49BA-85E8-031ACF0AC237}"/>
              </a:ext>
            </a:extLst>
          </p:cNvPr>
          <p:cNvSpPr>
            <a:spLocks xmlns:a="http://schemas.openxmlformats.org/drawingml/2006/main" noGrp="1"/>
          </p:cNvSpPr>
          <p:nvPr/>
        </p:nvSpPr>
        <p:spPr>
          <a:xfrm xmlns:a="http://schemas.openxmlformats.org/drawingml/2006/main">
            <a:off x="6800850" y="4514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Chunking, retrieval, context</a:t>
            </a:r>
          </a:p>
        </p:txBody>
      </p:sp>
      <p:sp>
        <p:nvSpPr>
          <p:cNvPr id="17" name="">
            <a:extLst xmlns:a="http://schemas.openxmlformats.org/drawingml/2006/main">
              <a:ext uri="{FF2B5EF4-FFF2-40B4-BE49-F238E27FC236}">
                <a16:creationId xmlns:a16="http://schemas.microsoft.com/office/drawing/2014/main" id="{739C3016-0047-4B45-85D0-4A68C300D329}"/>
              </a:ext>
            </a:extLst>
          </p:cNvPr>
          <p:cNvSpPr>
            <a:spLocks xmlns:a="http://schemas.openxmlformats.org/drawingml/2006/main" noGrp="1"/>
          </p:cNvSpPr>
          <p:nvPr/>
        </p:nvSpPr>
        <p:spPr>
          <a:xfrm xmlns:a="http://schemas.openxmlformats.org/drawingml/2006/main">
            <a:off x="3657600" y="4000500"/>
            <a:ext cx="2209800" cy="1009650"/>
          </a:xfrm>
          <a:prstGeom xmlns:a="http://schemas.openxmlformats.org/drawingml/2006/main" prst="roundRect">
            <a:avLst>
              <a:gd name="adj" fmla="val 11321"/>
            </a:avLst>
          </a:prstGeom>
          <a:solidFill xmlns:a="http://schemas.openxmlformats.org/drawingml/2006/main">
            <a:srgbClr val="0B1A2C"/>
          </a:solidFill>
          <a:ln xmlns:a="http://schemas.openxmlformats.org/drawingml/2006/main" w="9525">
            <a:solidFill>
              <a:srgbClr val="C7D5E4"/>
            </a:solidFill>
            <a:prstDash val="solid"/>
          </a:ln>
        </p:spPr>
      </p:sp>
      <p:sp>
        <p:nvSpPr>
          <p:cNvPr id="18" name="">
            <a:extLst xmlns:a="http://schemas.openxmlformats.org/drawingml/2006/main">
              <a:ext uri="{FF2B5EF4-FFF2-40B4-BE49-F238E27FC236}">
                <a16:creationId xmlns:a16="http://schemas.microsoft.com/office/drawing/2014/main" id="{BAFC4D35-AA71-4C81-B558-F584022E1786}"/>
              </a:ext>
            </a:extLst>
          </p:cNvPr>
          <p:cNvSpPr>
            <a:spLocks xmlns:a="http://schemas.openxmlformats.org/drawingml/2006/main" noGrp="1"/>
          </p:cNvSpPr>
          <p:nvPr/>
        </p:nvSpPr>
        <p:spPr>
          <a:xfrm xmlns:a="http://schemas.openxmlformats.org/drawingml/2006/main">
            <a:off x="3829050" y="4191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AI analysis</a:t>
            </a:r>
          </a:p>
        </p:txBody>
      </p:sp>
      <p:sp>
        <p:nvSpPr>
          <p:cNvPr id="19" name="">
            <a:extLst xmlns:a="http://schemas.openxmlformats.org/drawingml/2006/main">
              <a:ext uri="{FF2B5EF4-FFF2-40B4-BE49-F238E27FC236}">
                <a16:creationId xmlns:a16="http://schemas.microsoft.com/office/drawing/2014/main" id="{23D954C5-CD04-4F3C-88B8-7EFE8682FB21}"/>
              </a:ext>
            </a:extLst>
          </p:cNvPr>
          <p:cNvSpPr>
            <a:spLocks xmlns:a="http://schemas.openxmlformats.org/drawingml/2006/main" noGrp="1"/>
          </p:cNvSpPr>
          <p:nvPr/>
        </p:nvSpPr>
        <p:spPr>
          <a:xfrm xmlns:a="http://schemas.openxmlformats.org/drawingml/2006/main">
            <a:off x="3829050" y="4514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Groq-powered financial interpretation</a:t>
            </a:r>
          </a:p>
        </p:txBody>
      </p:sp>
      <p:sp>
        <p:nvSpPr>
          <p:cNvPr id="20" name="">
            <a:extLst xmlns:a="http://schemas.openxmlformats.org/drawingml/2006/main">
              <a:ext uri="{FF2B5EF4-FFF2-40B4-BE49-F238E27FC236}">
                <a16:creationId xmlns:a16="http://schemas.microsoft.com/office/drawing/2014/main" id="{23455E7F-DCB0-43B9-8B21-EE020BA0C15C}"/>
              </a:ext>
            </a:extLst>
          </p:cNvPr>
          <p:cNvSpPr>
            <a:spLocks xmlns:a="http://schemas.openxmlformats.org/drawingml/2006/main" noGrp="1"/>
          </p:cNvSpPr>
          <p:nvPr/>
        </p:nvSpPr>
        <p:spPr>
          <a:xfrm xmlns:a="http://schemas.openxmlformats.org/drawingml/2006/main">
            <a:off x="685800" y="4000500"/>
            <a:ext cx="22098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C7D5E4"/>
            </a:solidFill>
            <a:prstDash val="solid"/>
          </a:ln>
        </p:spPr>
      </p:sp>
      <p:sp>
        <p:nvSpPr>
          <p:cNvPr id="21" name="">
            <a:extLst xmlns:a="http://schemas.openxmlformats.org/drawingml/2006/main">
              <a:ext uri="{FF2B5EF4-FFF2-40B4-BE49-F238E27FC236}">
                <a16:creationId xmlns:a16="http://schemas.microsoft.com/office/drawing/2014/main" id="{75FC4D3E-7F99-4AF5-8CC9-BA5074331012}"/>
              </a:ext>
            </a:extLst>
          </p:cNvPr>
          <p:cNvSpPr>
            <a:spLocks xmlns:a="http://schemas.openxmlformats.org/drawingml/2006/main" noGrp="1"/>
          </p:cNvSpPr>
          <p:nvPr/>
        </p:nvSpPr>
        <p:spPr>
          <a:xfrm xmlns:a="http://schemas.openxmlformats.org/drawingml/2006/main">
            <a:off x="857250" y="41910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SQLite storage</a:t>
            </a:r>
          </a:p>
        </p:txBody>
      </p:sp>
      <p:sp>
        <p:nvSpPr>
          <p:cNvPr id="22" name="">
            <a:extLst xmlns:a="http://schemas.openxmlformats.org/drawingml/2006/main">
              <a:ext uri="{FF2B5EF4-FFF2-40B4-BE49-F238E27FC236}">
                <a16:creationId xmlns:a16="http://schemas.microsoft.com/office/drawing/2014/main" id="{2520927B-1C7A-4694-BB3F-1D64323AB651}"/>
              </a:ext>
            </a:extLst>
          </p:cNvPr>
          <p:cNvSpPr>
            <a:spLocks xmlns:a="http://schemas.openxmlformats.org/drawingml/2006/main" noGrp="1"/>
          </p:cNvSpPr>
          <p:nvPr/>
        </p:nvSpPr>
        <p:spPr>
          <a:xfrm xmlns:a="http://schemas.openxmlformats.org/drawingml/2006/main">
            <a:off x="857250" y="451485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D7087"/>
                </a:solidFill>
                <a:latin typeface="Arial"/>
                <a:ea typeface="Arial"/>
                <a:cs typeface="Arial"/>
              </a:defRPr>
            </a:pPr>
            <a:r>
              <a:rPr sz="1125" b="0">
                <a:solidFill>
                  <a:srgbClr val="5D7087"/>
                </a:solidFill>
                <a:latin typeface="Arial"/>
                <a:ea typeface="Arial"/>
                <a:cs typeface="Arial"/>
              </a:rPr>
              <a:t>Users, documents, analyses</a:t>
            </a:r>
          </a:p>
        </p:txBody>
      </p:sp>
      <p:sp>
        <p:nvSpPr>
          <p:cNvPr id="23" name="">
            <a:extLst xmlns:a="http://schemas.openxmlformats.org/drawingml/2006/main">
              <a:ext uri="{FF2B5EF4-FFF2-40B4-BE49-F238E27FC236}">
                <a16:creationId xmlns:a16="http://schemas.microsoft.com/office/drawing/2014/main" id="{8E435B9F-0BC7-4F2E-9AE3-2D25C3A77271}"/>
              </a:ext>
            </a:extLst>
          </p:cNvPr>
          <p:cNvSpPr>
            <a:spLocks xmlns:a="http://schemas.openxmlformats.org/drawingml/2006/main" noGrp="1"/>
          </p:cNvSpPr>
          <p:nvPr/>
        </p:nvSpPr>
        <p:spPr>
          <a:xfrm xmlns:a="http://schemas.openxmlformats.org/drawingml/2006/main">
            <a:off x="3009900" y="243840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47"/>
          </a:bodyPr>
          <a:lstStyle xmlns:a="http://schemas.openxmlformats.org/drawingml/2006/main"/>
          <a:p xmlns:a="http://schemas.openxmlformats.org/drawingml/2006/main">
            <a:pPr algn="ctr">
              <a:defRPr sz="2025" b="1">
                <a:solidFill>
                  <a:srgbClr val="2A7DE1"/>
                </a:solidFill>
                <a:latin typeface="Arial"/>
                <a:ea typeface="Arial"/>
                <a:cs typeface="Arial"/>
              </a:defRPr>
            </a:pPr>
            <a:r>
              <a:rPr sz="2025" b="1">
                <a:solidFill>
                  <a:srgbClr val="2A7DE1"/>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68BD4826-5833-41F2-9671-A1430B8E612F}"/>
              </a:ext>
            </a:extLst>
          </p:cNvPr>
          <p:cNvSpPr>
            <a:spLocks xmlns:a="http://schemas.openxmlformats.org/drawingml/2006/main" noGrp="1"/>
          </p:cNvSpPr>
          <p:nvPr/>
        </p:nvSpPr>
        <p:spPr>
          <a:xfrm xmlns:a="http://schemas.openxmlformats.org/drawingml/2006/main">
            <a:off x="5981700" y="243840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47"/>
          </a:bodyPr>
          <a:lstStyle xmlns:a="http://schemas.openxmlformats.org/drawingml/2006/main"/>
          <a:p xmlns:a="http://schemas.openxmlformats.org/drawingml/2006/main">
            <a:pPr algn="ctr">
              <a:defRPr sz="2025" b="1">
                <a:solidFill>
                  <a:srgbClr val="2A7DE1"/>
                </a:solidFill>
                <a:latin typeface="Arial"/>
                <a:ea typeface="Arial"/>
                <a:cs typeface="Arial"/>
              </a:defRPr>
            </a:pPr>
            <a:r>
              <a:rPr sz="2025" b="1">
                <a:solidFill>
                  <a:srgbClr val="2A7DE1"/>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4714DB28-8AAE-412C-8D90-1EADB54A0B72}"/>
              </a:ext>
            </a:extLst>
          </p:cNvPr>
          <p:cNvSpPr>
            <a:spLocks xmlns:a="http://schemas.openxmlformats.org/drawingml/2006/main" noGrp="1"/>
          </p:cNvSpPr>
          <p:nvPr/>
        </p:nvSpPr>
        <p:spPr>
          <a:xfrm xmlns:a="http://schemas.openxmlformats.org/drawingml/2006/main">
            <a:off x="7524750" y="3257550"/>
            <a:ext cx="42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2025" b="1">
                <a:solidFill>
                  <a:srgbClr val="2A7DE1"/>
                </a:solidFill>
                <a:latin typeface="Arial"/>
                <a:ea typeface="Arial"/>
                <a:cs typeface="Arial"/>
              </a:defRPr>
            </a:pPr>
            <a:r>
              <a:rPr sz="2025" b="1">
                <a:solidFill>
                  <a:srgbClr val="2A7DE1"/>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939C4C23-C3D4-4ABD-82A9-39C1B939318D}"/>
              </a:ext>
            </a:extLst>
          </p:cNvPr>
          <p:cNvSpPr>
            <a:spLocks xmlns:a="http://schemas.openxmlformats.org/drawingml/2006/main" noGrp="1"/>
          </p:cNvSpPr>
          <p:nvPr/>
        </p:nvSpPr>
        <p:spPr>
          <a:xfrm xmlns:a="http://schemas.openxmlformats.org/drawingml/2006/main">
            <a:off x="5981700" y="434340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47"/>
          </a:bodyPr>
          <a:lstStyle xmlns:a="http://schemas.openxmlformats.org/drawingml/2006/main"/>
          <a:p xmlns:a="http://schemas.openxmlformats.org/drawingml/2006/main">
            <a:pPr algn="ctr">
              <a:defRPr sz="2025" b="1">
                <a:solidFill>
                  <a:srgbClr val="2A7DE1"/>
                </a:solidFill>
                <a:latin typeface="Arial"/>
                <a:ea typeface="Arial"/>
                <a:cs typeface="Arial"/>
              </a:defRPr>
            </a:pPr>
            <a:r>
              <a:rPr sz="2025" b="1">
                <a:solidFill>
                  <a:srgbClr val="2A7DE1"/>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7F0BA3AC-62ED-46C9-BE2E-8FAE82F74282}"/>
              </a:ext>
            </a:extLst>
          </p:cNvPr>
          <p:cNvSpPr>
            <a:spLocks xmlns:a="http://schemas.openxmlformats.org/drawingml/2006/main" noGrp="1"/>
          </p:cNvSpPr>
          <p:nvPr/>
        </p:nvSpPr>
        <p:spPr>
          <a:xfrm xmlns:a="http://schemas.openxmlformats.org/drawingml/2006/main">
            <a:off x="3009900" y="434340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47"/>
          </a:bodyPr>
          <a:lstStyle xmlns:a="http://schemas.openxmlformats.org/drawingml/2006/main"/>
          <a:p xmlns:a="http://schemas.openxmlformats.org/drawingml/2006/main">
            <a:pPr algn="ctr">
              <a:defRPr sz="2025" b="1">
                <a:solidFill>
                  <a:srgbClr val="2A7DE1"/>
                </a:solidFill>
                <a:latin typeface="Arial"/>
                <a:ea typeface="Arial"/>
                <a:cs typeface="Arial"/>
              </a:defRPr>
            </a:pPr>
            <a:r>
              <a:rPr sz="2025" b="1">
                <a:solidFill>
                  <a:srgbClr val="2A7DE1"/>
                </a:solidFill>
                <a:latin typeface="Arial"/>
                <a:ea typeface="Arial"/>
                <a:cs typeface="Arial"/>
              </a:rPr>
              <a:t>←</a:t>
            </a:r>
          </a:p>
        </p:txBody>
      </p:sp>
    </p:spTree>
    <p:extLst>
      <p:ext uri="{BB962C8B-B14F-4D97-AF65-F5344CB8AC3E}">
        <p14:creationId xmlns:p14="http://schemas.microsoft.com/office/powerpoint/2010/main" val="1182802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D4B639-7720-428D-A1E0-EC0DBB1DAC74}"/>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6BFA5"/>
                </a:solidFill>
                <a:latin typeface="Arial"/>
                <a:ea typeface="Arial"/>
                <a:cs typeface="Arial"/>
              </a:defRPr>
            </a:pPr>
            <a:r>
              <a:rPr sz="1050" b="1">
                <a:solidFill>
                  <a:srgbClr val="36BFA5"/>
                </a:solidFill>
                <a:latin typeface="Arial"/>
                <a:ea typeface="Arial"/>
                <a:cs typeface="Arial"/>
              </a:rPr>
              <a:t>DOCUMENT INTELLIGENCE STARTS WITH THE SOURCE</a:t>
            </a:r>
          </a:p>
        </p:txBody>
      </p:sp>
      <p:sp>
        <p:nvSpPr>
          <p:cNvPr id="2" name="">
            <a:extLst xmlns:a="http://schemas.openxmlformats.org/drawingml/2006/main">
              <a:ext uri="{FF2B5EF4-FFF2-40B4-BE49-F238E27FC236}">
                <a16:creationId xmlns:a16="http://schemas.microsoft.com/office/drawing/2014/main" id="{3A1684D4-F10A-4030-9291-35FECD08EAEB}"/>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1451"/>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Clarafin accepts the financial formats SMEs already use and preserves their identity.</a:t>
            </a:r>
          </a:p>
        </p:txBody>
      </p:sp>
      <p:sp>
        <p:nvSpPr>
          <p:cNvPr id="3" name="">
            <a:extLst xmlns:a="http://schemas.openxmlformats.org/drawingml/2006/main">
              <a:ext uri="{FF2B5EF4-FFF2-40B4-BE49-F238E27FC236}">
                <a16:creationId xmlns:a16="http://schemas.microsoft.com/office/drawing/2014/main" id="{2503BD97-3788-4A94-B891-64940DF1EFF7}"/>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1FA3B270-D5A7-4302-8CC8-69F5D444B352}"/>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080B1BD-BC14-48C0-9510-6F0A3A2FE6B4}"/>
              </a:ext>
            </a:extLst>
          </p:cNvPr>
          <p:cNvSpPr>
            <a:spLocks xmlns:a="http://schemas.openxmlformats.org/drawingml/2006/main" noGrp="1"/>
          </p:cNvSpPr>
          <p:nvPr/>
        </p:nvSpPr>
        <p:spPr>
          <a:xfrm xmlns:a="http://schemas.openxmlformats.org/drawingml/2006/main">
            <a:off x="685800" y="2152650"/>
            <a:ext cx="3048000" cy="2047875"/>
          </a:xfrm>
          <a:prstGeom xmlns:a="http://schemas.openxmlformats.org/drawingml/2006/main" prst="roundRect">
            <a:avLst>
              <a:gd name="adj" fmla="val 5581"/>
            </a:avLst>
          </a:prstGeom>
          <a:solidFill xmlns:a="http://schemas.openxmlformats.org/drawingml/2006/main">
            <a:srgbClr val="EAF2FA"/>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7ACBAE09-CE73-474B-836C-475450527CF9}"/>
              </a:ext>
            </a:extLst>
          </p:cNvPr>
          <p:cNvSpPr>
            <a:spLocks xmlns:a="http://schemas.openxmlformats.org/drawingml/2006/main" noGrp="1"/>
          </p:cNvSpPr>
          <p:nvPr/>
        </p:nvSpPr>
        <p:spPr>
          <a:xfrm xmlns:a="http://schemas.openxmlformats.org/drawingml/2006/main">
            <a:off x="923925" y="248602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36BFA5"/>
                </a:solidFill>
                <a:latin typeface="Arial"/>
                <a:ea typeface="Arial"/>
                <a:cs typeface="Arial"/>
              </a:defRPr>
            </a:pPr>
            <a:r>
              <a:rPr sz="2550" b="1">
                <a:solidFill>
                  <a:srgbClr val="36BFA5"/>
                </a:solidFill>
                <a:latin typeface="Arial"/>
                <a:ea typeface="Arial"/>
                <a:cs typeface="Arial"/>
              </a:rPr>
              <a:t>PDF</a:t>
            </a:r>
          </a:p>
        </p:txBody>
      </p:sp>
      <p:sp>
        <p:nvSpPr>
          <p:cNvPr id="7" name="">
            <a:extLst xmlns:a="http://schemas.openxmlformats.org/drawingml/2006/main">
              <a:ext uri="{FF2B5EF4-FFF2-40B4-BE49-F238E27FC236}">
                <a16:creationId xmlns:a16="http://schemas.microsoft.com/office/drawing/2014/main" id="{A1AFE4D5-6FC5-4214-B50C-A814BA252675}"/>
              </a:ext>
            </a:extLst>
          </p:cNvPr>
          <p:cNvSpPr>
            <a:spLocks xmlns:a="http://schemas.openxmlformats.org/drawingml/2006/main" noGrp="1"/>
          </p:cNvSpPr>
          <p:nvPr/>
        </p:nvSpPr>
        <p:spPr>
          <a:xfrm xmlns:a="http://schemas.openxmlformats.org/drawingml/2006/main">
            <a:off x="923925" y="31527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Statements and reports</a:t>
            </a:r>
          </a:p>
        </p:txBody>
      </p:sp>
      <p:sp>
        <p:nvSpPr>
          <p:cNvPr id="8" name="">
            <a:extLst xmlns:a="http://schemas.openxmlformats.org/drawingml/2006/main">
              <a:ext uri="{FF2B5EF4-FFF2-40B4-BE49-F238E27FC236}">
                <a16:creationId xmlns:a16="http://schemas.microsoft.com/office/drawing/2014/main" id="{2572366A-3A2E-470A-B696-BF21E903A4A6}"/>
              </a:ext>
            </a:extLst>
          </p:cNvPr>
          <p:cNvSpPr>
            <a:spLocks xmlns:a="http://schemas.openxmlformats.org/drawingml/2006/main" noGrp="1"/>
          </p:cNvSpPr>
          <p:nvPr/>
        </p:nvSpPr>
        <p:spPr>
          <a:xfrm xmlns:a="http://schemas.openxmlformats.org/drawingml/2006/main">
            <a:off x="4210050" y="2152650"/>
            <a:ext cx="3048000" cy="2047875"/>
          </a:xfrm>
          <a:prstGeom xmlns:a="http://schemas.openxmlformats.org/drawingml/2006/main" prst="roundRect">
            <a:avLst>
              <a:gd name="adj" fmla="val 5581"/>
            </a:avLst>
          </a:prstGeom>
          <a:solidFill xmlns:a="http://schemas.openxmlformats.org/drawingml/2006/main">
            <a:srgbClr val="EAF2FA"/>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DA5A433F-D45E-4A2C-AAED-042B85C23D27}"/>
              </a:ext>
            </a:extLst>
          </p:cNvPr>
          <p:cNvSpPr>
            <a:spLocks xmlns:a="http://schemas.openxmlformats.org/drawingml/2006/main" noGrp="1"/>
          </p:cNvSpPr>
          <p:nvPr/>
        </p:nvSpPr>
        <p:spPr>
          <a:xfrm xmlns:a="http://schemas.openxmlformats.org/drawingml/2006/main">
            <a:off x="4448175" y="248602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36BFA5"/>
                </a:solidFill>
                <a:latin typeface="Arial"/>
                <a:ea typeface="Arial"/>
                <a:cs typeface="Arial"/>
              </a:defRPr>
            </a:pPr>
            <a:r>
              <a:rPr sz="2550" b="1">
                <a:solidFill>
                  <a:srgbClr val="36BFA5"/>
                </a:solidFill>
                <a:latin typeface="Arial"/>
                <a:ea typeface="Arial"/>
                <a:cs typeface="Arial"/>
              </a:rPr>
              <a:t>CSV</a:t>
            </a:r>
          </a:p>
        </p:txBody>
      </p:sp>
      <p:sp>
        <p:nvSpPr>
          <p:cNvPr id="10" name="">
            <a:extLst xmlns:a="http://schemas.openxmlformats.org/drawingml/2006/main">
              <a:ext uri="{FF2B5EF4-FFF2-40B4-BE49-F238E27FC236}">
                <a16:creationId xmlns:a16="http://schemas.microsoft.com/office/drawing/2014/main" id="{438D1FCB-46F9-4AF4-9F19-036115BE0CE4}"/>
              </a:ext>
            </a:extLst>
          </p:cNvPr>
          <p:cNvSpPr>
            <a:spLocks xmlns:a="http://schemas.openxmlformats.org/drawingml/2006/main" noGrp="1"/>
          </p:cNvSpPr>
          <p:nvPr/>
        </p:nvSpPr>
        <p:spPr>
          <a:xfrm xmlns:a="http://schemas.openxmlformats.org/drawingml/2006/main">
            <a:off x="4448175" y="31527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Transaction exports and ledgers</a:t>
            </a:r>
          </a:p>
        </p:txBody>
      </p:sp>
      <p:sp>
        <p:nvSpPr>
          <p:cNvPr id="11" name="">
            <a:extLst xmlns:a="http://schemas.openxmlformats.org/drawingml/2006/main">
              <a:ext uri="{FF2B5EF4-FFF2-40B4-BE49-F238E27FC236}">
                <a16:creationId xmlns:a16="http://schemas.microsoft.com/office/drawing/2014/main" id="{A3752CBB-2464-4272-8F1B-212638F835AC}"/>
              </a:ext>
            </a:extLst>
          </p:cNvPr>
          <p:cNvSpPr>
            <a:spLocks xmlns:a="http://schemas.openxmlformats.org/drawingml/2006/main" noGrp="1"/>
          </p:cNvSpPr>
          <p:nvPr/>
        </p:nvSpPr>
        <p:spPr>
          <a:xfrm xmlns:a="http://schemas.openxmlformats.org/drawingml/2006/main">
            <a:off x="7734300" y="2152650"/>
            <a:ext cx="3048000" cy="2047875"/>
          </a:xfrm>
          <a:prstGeom xmlns:a="http://schemas.openxmlformats.org/drawingml/2006/main" prst="roundRect">
            <a:avLst>
              <a:gd name="adj" fmla="val 5581"/>
            </a:avLst>
          </a:prstGeom>
          <a:solidFill xmlns:a="http://schemas.openxmlformats.org/drawingml/2006/main">
            <a:srgbClr val="EAF2FA"/>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BDC9C218-6E4C-4AC5-95A6-75CE771E3327}"/>
              </a:ext>
            </a:extLst>
          </p:cNvPr>
          <p:cNvSpPr>
            <a:spLocks xmlns:a="http://schemas.openxmlformats.org/drawingml/2006/main" noGrp="1"/>
          </p:cNvSpPr>
          <p:nvPr/>
        </p:nvSpPr>
        <p:spPr>
          <a:xfrm xmlns:a="http://schemas.openxmlformats.org/drawingml/2006/main">
            <a:off x="7972425" y="248602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36BFA5"/>
                </a:solidFill>
                <a:latin typeface="Arial"/>
                <a:ea typeface="Arial"/>
                <a:cs typeface="Arial"/>
              </a:defRPr>
            </a:pPr>
            <a:r>
              <a:rPr sz="2550" b="1">
                <a:solidFill>
                  <a:srgbClr val="36BFA5"/>
                </a:solidFill>
                <a:latin typeface="Arial"/>
                <a:ea typeface="Arial"/>
                <a:cs typeface="Arial"/>
              </a:rPr>
              <a:t>XLSX / XLS</a:t>
            </a:r>
          </a:p>
        </p:txBody>
      </p:sp>
      <p:sp>
        <p:nvSpPr>
          <p:cNvPr id="13" name="">
            <a:extLst xmlns:a="http://schemas.openxmlformats.org/drawingml/2006/main">
              <a:ext uri="{FF2B5EF4-FFF2-40B4-BE49-F238E27FC236}">
                <a16:creationId xmlns:a16="http://schemas.microsoft.com/office/drawing/2014/main" id="{6FBD57CF-7407-4DC4-8344-5EF5C98D6595}"/>
              </a:ext>
            </a:extLst>
          </p:cNvPr>
          <p:cNvSpPr>
            <a:spLocks xmlns:a="http://schemas.openxmlformats.org/drawingml/2006/main" noGrp="1"/>
          </p:cNvSpPr>
          <p:nvPr/>
        </p:nvSpPr>
        <p:spPr>
          <a:xfrm xmlns:a="http://schemas.openxmlformats.org/drawingml/2006/main">
            <a:off x="7972425" y="31527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238"/>
                </a:solidFill>
                <a:latin typeface="Arial"/>
                <a:ea typeface="Arial"/>
                <a:cs typeface="Arial"/>
              </a:defRPr>
            </a:pPr>
            <a:r>
              <a:rPr sz="1500" b="1">
                <a:solidFill>
                  <a:srgbClr val="102238"/>
                </a:solidFill>
                <a:latin typeface="Arial"/>
                <a:ea typeface="Arial"/>
                <a:cs typeface="Arial"/>
              </a:rPr>
              <a:t>P&amp;L, balance sheets, cash-flow files</a:t>
            </a:r>
          </a:p>
        </p:txBody>
      </p:sp>
      <p:sp>
        <p:nvSpPr>
          <p:cNvPr id="14" name="">
            <a:extLst xmlns:a="http://schemas.openxmlformats.org/drawingml/2006/main">
              <a:ext uri="{FF2B5EF4-FFF2-40B4-BE49-F238E27FC236}">
                <a16:creationId xmlns:a16="http://schemas.microsoft.com/office/drawing/2014/main" id="{B40CE91B-40F7-4281-B9A7-58EDD652D026}"/>
              </a:ext>
            </a:extLst>
          </p:cNvPr>
          <p:cNvSpPr>
            <a:spLocks xmlns:a="http://schemas.openxmlformats.org/drawingml/2006/main" noGrp="1"/>
          </p:cNvSpPr>
          <p:nvPr/>
        </p:nvSpPr>
        <p:spPr>
          <a:xfrm xmlns:a="http://schemas.openxmlformats.org/drawingml/2006/main">
            <a:off x="685800" y="4857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Upload validation</a:t>
            </a:r>
          </a:p>
        </p:txBody>
      </p:sp>
      <p:sp>
        <p:nvSpPr>
          <p:cNvPr id="15" name="">
            <a:extLst xmlns:a="http://schemas.openxmlformats.org/drawingml/2006/main">
              <a:ext uri="{FF2B5EF4-FFF2-40B4-BE49-F238E27FC236}">
                <a16:creationId xmlns:a16="http://schemas.microsoft.com/office/drawing/2014/main" id="{401D88D9-D2B2-4F5F-828C-A87E31E6D9F4}"/>
              </a:ext>
            </a:extLst>
          </p:cNvPr>
          <p:cNvSpPr>
            <a:spLocks xmlns:a="http://schemas.openxmlformats.org/drawingml/2006/main" noGrp="1"/>
          </p:cNvSpPr>
          <p:nvPr/>
        </p:nvSpPr>
        <p:spPr>
          <a:xfrm xmlns:a="http://schemas.openxmlformats.org/drawingml/2006/main">
            <a:off x="685800" y="52292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D7087"/>
                </a:solidFill>
                <a:latin typeface="Arial"/>
                <a:ea typeface="Arial"/>
                <a:cs typeface="Arial"/>
              </a:defRPr>
            </a:pPr>
            <a:r>
              <a:rPr sz="1425" b="0">
                <a:solidFill>
                  <a:srgbClr val="5D7087"/>
                </a:solidFill>
                <a:latin typeface="Arial"/>
                <a:ea typeface="Arial"/>
                <a:cs typeface="Arial"/>
              </a:rPr>
              <a:t>Supported file types · 20 MB maximum file size · user-owned document catalog</a:t>
            </a:r>
          </a:p>
        </p:txBody>
      </p:sp>
    </p:spTree>
    <p:extLst>
      <p:ext uri="{BB962C8B-B14F-4D97-AF65-F5344CB8AC3E}">
        <p14:creationId xmlns:p14="http://schemas.microsoft.com/office/powerpoint/2010/main" val="1233582274"/>
      </p:ext>
    </p:extLst>
  </p:cSld>
</p:sld>
</file>

<file path=ppt/slides/slide7.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CFBD94A-39DD-4037-BB44-0F81839AA542}"/>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6BFA5"/>
                </a:solidFill>
                <a:latin typeface="Arial"/>
                <a:ea typeface="Arial"/>
                <a:cs typeface="Arial"/>
              </a:defRPr>
            </a:pPr>
            <a:r>
              <a:rPr sz="1050" b="1">
                <a:solidFill>
                  <a:srgbClr val="36BFA5"/>
                </a:solidFill>
                <a:latin typeface="Arial"/>
                <a:ea typeface="Arial"/>
                <a:cs typeface="Arial"/>
              </a:rPr>
              <a:t>GROUNDED REASONING IS THE CORE DIFFERENTIATOR</a:t>
            </a:r>
          </a:p>
        </p:txBody>
      </p:sp>
      <p:sp>
        <p:nvSpPr>
          <p:cNvPr id="2" name="">
            <a:extLst xmlns:a="http://schemas.openxmlformats.org/drawingml/2006/main">
              <a:ext uri="{FF2B5EF4-FFF2-40B4-BE49-F238E27FC236}">
                <a16:creationId xmlns:a16="http://schemas.microsoft.com/office/drawing/2014/main" id="{70577041-D185-4E30-8354-7656961762AB}"/>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982"/>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The agent uses document context and returns evidence instead of unsupported certainty.</a:t>
            </a:r>
          </a:p>
        </p:txBody>
      </p:sp>
      <p:sp>
        <p:nvSpPr>
          <p:cNvPr id="3" name="">
            <a:extLst xmlns:a="http://schemas.openxmlformats.org/drawingml/2006/main">
              <a:ext uri="{FF2B5EF4-FFF2-40B4-BE49-F238E27FC236}">
                <a16:creationId xmlns:a16="http://schemas.microsoft.com/office/drawing/2014/main" id="{FEDBEEC9-AD09-4045-8AB8-CE32CC79A3F1}"/>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1AF01DEC-C85D-404B-94D7-7DCC790A0728}"/>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081E776-F36B-48C0-B626-274B454C1AB2}"/>
              </a:ext>
            </a:extLst>
          </p:cNvPr>
          <p:cNvSpPr>
            <a:spLocks xmlns:a="http://schemas.openxmlformats.org/drawingml/2006/main" noGrp="1"/>
          </p:cNvSpPr>
          <p:nvPr/>
        </p:nvSpPr>
        <p:spPr>
          <a:xfrm xmlns:a="http://schemas.openxmlformats.org/drawingml/2006/main">
            <a:off x="714375" y="19621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6BFA5"/>
                </a:solidFill>
                <a:latin typeface="Arial"/>
                <a:ea typeface="Arial"/>
                <a:cs typeface="Arial"/>
              </a:defRPr>
            </a:pPr>
            <a:r>
              <a:rPr sz="1350" b="1">
                <a:solidFill>
                  <a:srgbClr val="36BFA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E670CC5-0730-4F54-BA28-53BA96AF3260}"/>
              </a:ext>
            </a:extLst>
          </p:cNvPr>
          <p:cNvSpPr>
            <a:spLocks xmlns:a="http://schemas.openxmlformats.org/drawingml/2006/main" noGrp="1"/>
          </p:cNvSpPr>
          <p:nvPr/>
        </p:nvSpPr>
        <p:spPr>
          <a:xfrm xmlns:a="http://schemas.openxmlformats.org/drawingml/2006/main">
            <a:off x="1371600" y="1962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Parse</a:t>
            </a:r>
          </a:p>
        </p:txBody>
      </p:sp>
      <p:sp>
        <p:nvSpPr>
          <p:cNvPr id="7" name="">
            <a:extLst xmlns:a="http://schemas.openxmlformats.org/drawingml/2006/main">
              <a:ext uri="{FF2B5EF4-FFF2-40B4-BE49-F238E27FC236}">
                <a16:creationId xmlns:a16="http://schemas.microsoft.com/office/drawing/2014/main" id="{598B9445-8747-4A56-B322-D09CD4BAF8EE}"/>
              </a:ext>
            </a:extLst>
          </p:cNvPr>
          <p:cNvSpPr>
            <a:spLocks xmlns:a="http://schemas.openxmlformats.org/drawingml/2006/main" noGrp="1"/>
          </p:cNvSpPr>
          <p:nvPr/>
        </p:nvSpPr>
        <p:spPr>
          <a:xfrm xmlns:a="http://schemas.openxmlformats.org/drawingml/2006/main">
            <a:off x="3143250" y="1962150"/>
            <a:ext cx="700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Extract relevant text, sheet data, and page or row context.</a:t>
            </a:r>
          </a:p>
        </p:txBody>
      </p:sp>
      <p:sp>
        <p:nvSpPr>
          <p:cNvPr id="8" name="">
            <a:extLst xmlns:a="http://schemas.openxmlformats.org/drawingml/2006/main">
              <a:ext uri="{FF2B5EF4-FFF2-40B4-BE49-F238E27FC236}">
                <a16:creationId xmlns:a16="http://schemas.microsoft.com/office/drawing/2014/main" id="{5D5CDB06-E4FD-43A1-85D7-6B727AEB8F30}"/>
              </a:ext>
            </a:extLst>
          </p:cNvPr>
          <p:cNvSpPr>
            <a:spLocks xmlns:a="http://schemas.openxmlformats.org/drawingml/2006/main" noGrp="1"/>
          </p:cNvSpPr>
          <p:nvPr/>
        </p:nvSpPr>
        <p:spPr>
          <a:xfrm xmlns:a="http://schemas.openxmlformats.org/drawingml/2006/main">
            <a:off x="714375" y="2486025"/>
            <a:ext cx="100965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9" name="">
            <a:extLst xmlns:a="http://schemas.openxmlformats.org/drawingml/2006/main">
              <a:ext uri="{FF2B5EF4-FFF2-40B4-BE49-F238E27FC236}">
                <a16:creationId xmlns:a16="http://schemas.microsoft.com/office/drawing/2014/main" id="{1EF500BE-E0F8-409C-9167-E07B83464CAD}"/>
              </a:ext>
            </a:extLst>
          </p:cNvPr>
          <p:cNvSpPr>
            <a:spLocks xmlns:a="http://schemas.openxmlformats.org/drawingml/2006/main" noGrp="1"/>
          </p:cNvSpPr>
          <p:nvPr/>
        </p:nvSpPr>
        <p:spPr>
          <a:xfrm xmlns:a="http://schemas.openxmlformats.org/drawingml/2006/main">
            <a:off x="714375" y="27432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6BFA5"/>
                </a:solidFill>
                <a:latin typeface="Arial"/>
                <a:ea typeface="Arial"/>
                <a:cs typeface="Arial"/>
              </a:defRPr>
            </a:pPr>
            <a:r>
              <a:rPr sz="1350" b="1">
                <a:solidFill>
                  <a:srgbClr val="36BFA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ECA0F47-CE0F-409A-B5CB-E5462188FF92}"/>
              </a:ext>
            </a:extLst>
          </p:cNvPr>
          <p:cNvSpPr>
            <a:spLocks xmlns:a="http://schemas.openxmlformats.org/drawingml/2006/main" noGrp="1"/>
          </p:cNvSpPr>
          <p:nvPr/>
        </p:nvSpPr>
        <p:spPr>
          <a:xfrm xmlns:a="http://schemas.openxmlformats.org/drawingml/2006/main">
            <a:off x="1371600" y="27432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Retrieve</a:t>
            </a:r>
          </a:p>
        </p:txBody>
      </p:sp>
      <p:sp>
        <p:nvSpPr>
          <p:cNvPr id="11" name="">
            <a:extLst xmlns:a="http://schemas.openxmlformats.org/drawingml/2006/main">
              <a:ext uri="{FF2B5EF4-FFF2-40B4-BE49-F238E27FC236}">
                <a16:creationId xmlns:a16="http://schemas.microsoft.com/office/drawing/2014/main" id="{54CB7505-0491-4D0E-A941-72D6D1F6F6FE}"/>
              </a:ext>
            </a:extLst>
          </p:cNvPr>
          <p:cNvSpPr>
            <a:spLocks xmlns:a="http://schemas.openxmlformats.org/drawingml/2006/main" noGrp="1"/>
          </p:cNvSpPr>
          <p:nvPr/>
        </p:nvSpPr>
        <p:spPr>
          <a:xfrm xmlns:a="http://schemas.openxmlformats.org/drawingml/2006/main">
            <a:off x="3143250" y="2743200"/>
            <a:ext cx="700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Build a focused context from selected documents.</a:t>
            </a:r>
          </a:p>
        </p:txBody>
      </p:sp>
      <p:sp>
        <p:nvSpPr>
          <p:cNvPr id="12" name="">
            <a:extLst xmlns:a="http://schemas.openxmlformats.org/drawingml/2006/main">
              <a:ext uri="{FF2B5EF4-FFF2-40B4-BE49-F238E27FC236}">
                <a16:creationId xmlns:a16="http://schemas.microsoft.com/office/drawing/2014/main" id="{3DDB69BF-A008-4903-859F-1511CBC5CFAF}"/>
              </a:ext>
            </a:extLst>
          </p:cNvPr>
          <p:cNvSpPr>
            <a:spLocks xmlns:a="http://schemas.openxmlformats.org/drawingml/2006/main" noGrp="1"/>
          </p:cNvSpPr>
          <p:nvPr/>
        </p:nvSpPr>
        <p:spPr>
          <a:xfrm xmlns:a="http://schemas.openxmlformats.org/drawingml/2006/main">
            <a:off x="714375" y="3267075"/>
            <a:ext cx="100965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13" name="">
            <a:extLst xmlns:a="http://schemas.openxmlformats.org/drawingml/2006/main">
              <a:ext uri="{FF2B5EF4-FFF2-40B4-BE49-F238E27FC236}">
                <a16:creationId xmlns:a16="http://schemas.microsoft.com/office/drawing/2014/main" id="{5FD7475C-3B85-476D-B9A8-4DECFB23C287}"/>
              </a:ext>
            </a:extLst>
          </p:cNvPr>
          <p:cNvSpPr>
            <a:spLocks xmlns:a="http://schemas.openxmlformats.org/drawingml/2006/main" noGrp="1"/>
          </p:cNvSpPr>
          <p:nvPr/>
        </p:nvSpPr>
        <p:spPr>
          <a:xfrm xmlns:a="http://schemas.openxmlformats.org/drawingml/2006/main">
            <a:off x="714375" y="35242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6BFA5"/>
                </a:solidFill>
                <a:latin typeface="Arial"/>
                <a:ea typeface="Arial"/>
                <a:cs typeface="Arial"/>
              </a:defRPr>
            </a:pPr>
            <a:r>
              <a:rPr sz="1350" b="1">
                <a:solidFill>
                  <a:srgbClr val="36BFA5"/>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FF5A9FE-F85F-4BEC-99D9-6EDEFEC5DCD4}"/>
              </a:ext>
            </a:extLst>
          </p:cNvPr>
          <p:cNvSpPr>
            <a:spLocks xmlns:a="http://schemas.openxmlformats.org/drawingml/2006/main" noGrp="1"/>
          </p:cNvSpPr>
          <p:nvPr/>
        </p:nvSpPr>
        <p:spPr>
          <a:xfrm xmlns:a="http://schemas.openxmlformats.org/drawingml/2006/main">
            <a:off x="1371600" y="35242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Analyze</a:t>
            </a:r>
          </a:p>
        </p:txBody>
      </p:sp>
      <p:sp>
        <p:nvSpPr>
          <p:cNvPr id="15" name="">
            <a:extLst xmlns:a="http://schemas.openxmlformats.org/drawingml/2006/main">
              <a:ext uri="{FF2B5EF4-FFF2-40B4-BE49-F238E27FC236}">
                <a16:creationId xmlns:a16="http://schemas.microsoft.com/office/drawing/2014/main" id="{BD239F91-0CA4-404D-B3D1-70B9E5FE4B14}"/>
              </a:ext>
            </a:extLst>
          </p:cNvPr>
          <p:cNvSpPr>
            <a:spLocks xmlns:a="http://schemas.openxmlformats.org/drawingml/2006/main" noGrp="1"/>
          </p:cNvSpPr>
          <p:nvPr/>
        </p:nvSpPr>
        <p:spPr>
          <a:xfrm xmlns:a="http://schemas.openxmlformats.org/drawingml/2006/main">
            <a:off x="3143250" y="3524250"/>
            <a:ext cx="700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Assess liquidity, margins, concentration, anomalies, gaps, and flags.</a:t>
            </a:r>
          </a:p>
        </p:txBody>
      </p:sp>
      <p:sp>
        <p:nvSpPr>
          <p:cNvPr id="16" name="">
            <a:extLst xmlns:a="http://schemas.openxmlformats.org/drawingml/2006/main">
              <a:ext uri="{FF2B5EF4-FFF2-40B4-BE49-F238E27FC236}">
                <a16:creationId xmlns:a16="http://schemas.microsoft.com/office/drawing/2014/main" id="{DDBF450B-9E82-4132-90B7-DE75A6F4ADA5}"/>
              </a:ext>
            </a:extLst>
          </p:cNvPr>
          <p:cNvSpPr>
            <a:spLocks xmlns:a="http://schemas.openxmlformats.org/drawingml/2006/main" noGrp="1"/>
          </p:cNvSpPr>
          <p:nvPr/>
        </p:nvSpPr>
        <p:spPr>
          <a:xfrm xmlns:a="http://schemas.openxmlformats.org/drawingml/2006/main">
            <a:off x="714375" y="4048125"/>
            <a:ext cx="100965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17" name="">
            <a:extLst xmlns:a="http://schemas.openxmlformats.org/drawingml/2006/main">
              <a:ext uri="{FF2B5EF4-FFF2-40B4-BE49-F238E27FC236}">
                <a16:creationId xmlns:a16="http://schemas.microsoft.com/office/drawing/2014/main" id="{147A2AEE-F8A3-49E4-90B2-8A8FEB5B8677}"/>
              </a:ext>
            </a:extLst>
          </p:cNvPr>
          <p:cNvSpPr>
            <a:spLocks xmlns:a="http://schemas.openxmlformats.org/drawingml/2006/main" noGrp="1"/>
          </p:cNvSpPr>
          <p:nvPr/>
        </p:nvSpPr>
        <p:spPr>
          <a:xfrm xmlns:a="http://schemas.openxmlformats.org/drawingml/2006/main">
            <a:off x="714375" y="43053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6BFA5"/>
                </a:solidFill>
                <a:latin typeface="Arial"/>
                <a:ea typeface="Arial"/>
                <a:cs typeface="Arial"/>
              </a:defRPr>
            </a:pPr>
            <a:r>
              <a:rPr sz="1350" b="1">
                <a:solidFill>
                  <a:srgbClr val="36BFA5"/>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61ABF692-BDE6-4F24-BBCE-133756427FEF}"/>
              </a:ext>
            </a:extLst>
          </p:cNvPr>
          <p:cNvSpPr>
            <a:spLocks xmlns:a="http://schemas.openxmlformats.org/drawingml/2006/main" noGrp="1"/>
          </p:cNvSpPr>
          <p:nvPr/>
        </p:nvSpPr>
        <p:spPr>
          <a:xfrm xmlns:a="http://schemas.openxmlformats.org/drawingml/2006/main">
            <a:off x="1371600" y="43053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Cite</a:t>
            </a:r>
          </a:p>
        </p:txBody>
      </p:sp>
      <p:sp>
        <p:nvSpPr>
          <p:cNvPr id="19" name="">
            <a:extLst xmlns:a="http://schemas.openxmlformats.org/drawingml/2006/main">
              <a:ext uri="{FF2B5EF4-FFF2-40B4-BE49-F238E27FC236}">
                <a16:creationId xmlns:a16="http://schemas.microsoft.com/office/drawing/2014/main" id="{4916EB9A-D10A-4EBE-886A-25628BCCB0EB}"/>
              </a:ext>
            </a:extLst>
          </p:cNvPr>
          <p:cNvSpPr>
            <a:spLocks xmlns:a="http://schemas.openxmlformats.org/drawingml/2006/main" noGrp="1"/>
          </p:cNvSpPr>
          <p:nvPr/>
        </p:nvSpPr>
        <p:spPr>
          <a:xfrm xmlns:a="http://schemas.openxmlformats.org/drawingml/2006/main">
            <a:off x="3143250" y="4305300"/>
            <a:ext cx="700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Attach filename, location, and exact supporting text where available.</a:t>
            </a:r>
          </a:p>
        </p:txBody>
      </p:sp>
      <p:sp>
        <p:nvSpPr>
          <p:cNvPr id="20" name="">
            <a:extLst xmlns:a="http://schemas.openxmlformats.org/drawingml/2006/main">
              <a:ext uri="{FF2B5EF4-FFF2-40B4-BE49-F238E27FC236}">
                <a16:creationId xmlns:a16="http://schemas.microsoft.com/office/drawing/2014/main" id="{C8409453-0581-43E1-8E69-D08C3EEC6AD5}"/>
              </a:ext>
            </a:extLst>
          </p:cNvPr>
          <p:cNvSpPr>
            <a:spLocks xmlns:a="http://schemas.openxmlformats.org/drawingml/2006/main" noGrp="1"/>
          </p:cNvSpPr>
          <p:nvPr/>
        </p:nvSpPr>
        <p:spPr>
          <a:xfrm xmlns:a="http://schemas.openxmlformats.org/drawingml/2006/main">
            <a:off x="714375" y="4829175"/>
            <a:ext cx="100965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21" name="">
            <a:extLst xmlns:a="http://schemas.openxmlformats.org/drawingml/2006/main">
              <a:ext uri="{FF2B5EF4-FFF2-40B4-BE49-F238E27FC236}">
                <a16:creationId xmlns:a16="http://schemas.microsoft.com/office/drawing/2014/main" id="{142B9B60-D10C-4A4F-AEA4-351F1368A839}"/>
              </a:ext>
            </a:extLst>
          </p:cNvPr>
          <p:cNvSpPr>
            <a:spLocks xmlns:a="http://schemas.openxmlformats.org/drawingml/2006/main" noGrp="1"/>
          </p:cNvSpPr>
          <p:nvPr/>
        </p:nvSpPr>
        <p:spPr>
          <a:xfrm xmlns:a="http://schemas.openxmlformats.org/drawingml/2006/main">
            <a:off x="714375" y="5324475"/>
            <a:ext cx="9810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11"/>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If the evidence is missing, Clarafin reports: “cannot be determined from the uploaded documents.”</a:t>
            </a:r>
          </a:p>
        </p:txBody>
      </p:sp>
    </p:spTree>
    <p:extLst>
      <p:ext uri="{BB962C8B-B14F-4D97-AF65-F5344CB8AC3E}">
        <p14:creationId xmlns:p14="http://schemas.microsoft.com/office/powerpoint/2010/main" val="6701812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294C9A-329F-42E2-8B20-FD392B99F12D}"/>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77C72"/>
                </a:solidFill>
                <a:latin typeface="Arial"/>
                <a:ea typeface="Arial"/>
                <a:cs typeface="Arial"/>
              </a:defRPr>
            </a:pPr>
            <a:r>
              <a:rPr sz="1050" b="1">
                <a:solidFill>
                  <a:srgbClr val="F77C72"/>
                </a:solidFill>
                <a:latin typeface="Arial"/>
                <a:ea typeface="Arial"/>
                <a:cs typeface="Arial"/>
              </a:rPr>
              <a:t>TRUST IS BUILT INTO THE WORKFLOW</a:t>
            </a:r>
          </a:p>
        </p:txBody>
      </p:sp>
      <p:sp>
        <p:nvSpPr>
          <p:cNvPr id="2" name="">
            <a:extLst xmlns:a="http://schemas.openxmlformats.org/drawingml/2006/main">
              <a:ext uri="{FF2B5EF4-FFF2-40B4-BE49-F238E27FC236}">
                <a16:creationId xmlns:a16="http://schemas.microsoft.com/office/drawing/2014/main" id="{95D06505-C684-472C-BE48-ECB890B68580}"/>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8567"/>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Authentication and document ownership keep each workspace scoped to the right user.</a:t>
            </a:r>
          </a:p>
        </p:txBody>
      </p:sp>
      <p:sp>
        <p:nvSpPr>
          <p:cNvPr id="3" name="">
            <a:extLst xmlns:a="http://schemas.openxmlformats.org/drawingml/2006/main">
              <a:ext uri="{FF2B5EF4-FFF2-40B4-BE49-F238E27FC236}">
                <a16:creationId xmlns:a16="http://schemas.microsoft.com/office/drawing/2014/main" id="{D71E66A7-91E9-43CB-8024-1A76DF8F2A2B}"/>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D7F89EB5-9CB0-45BA-B3C4-316E8218F9AA}"/>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7F05871-7691-4D3D-9454-8FF5D6B171D9}"/>
              </a:ext>
            </a:extLst>
          </p:cNvPr>
          <p:cNvSpPr>
            <a:spLocks xmlns:a="http://schemas.openxmlformats.org/drawingml/2006/main" noGrp="1"/>
          </p:cNvSpPr>
          <p:nvPr/>
        </p:nvSpPr>
        <p:spPr>
          <a:xfrm xmlns:a="http://schemas.openxmlformats.org/drawingml/2006/main">
            <a:off x="685800" y="2028825"/>
            <a:ext cx="4648200" cy="1200150"/>
          </a:xfrm>
          <a:prstGeom xmlns:a="http://schemas.openxmlformats.org/drawingml/2006/main" prst="roundRect">
            <a:avLst>
              <a:gd name="adj" fmla="val 9524"/>
            </a:avLst>
          </a:prstGeom>
          <a:solidFill xmlns:a="http://schemas.openxmlformats.org/drawingml/2006/main">
            <a:srgbClr val="F7FAFD"/>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94DF8B4A-9722-4B7F-9B13-2A4BE46D97FC}"/>
              </a:ext>
            </a:extLst>
          </p:cNvPr>
          <p:cNvSpPr>
            <a:spLocks xmlns:a="http://schemas.openxmlformats.org/drawingml/2006/main" noGrp="1"/>
          </p:cNvSpPr>
          <p:nvPr/>
        </p:nvSpPr>
        <p:spPr>
          <a:xfrm xmlns:a="http://schemas.openxmlformats.org/drawingml/2006/main">
            <a:off x="914400" y="22383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JWT access tokens</a:t>
            </a:r>
          </a:p>
        </p:txBody>
      </p:sp>
      <p:sp>
        <p:nvSpPr>
          <p:cNvPr id="7" name="">
            <a:extLst xmlns:a="http://schemas.openxmlformats.org/drawingml/2006/main">
              <a:ext uri="{FF2B5EF4-FFF2-40B4-BE49-F238E27FC236}">
                <a16:creationId xmlns:a16="http://schemas.microsoft.com/office/drawing/2014/main" id="{825D1E61-3B34-4414-8AEB-114D621145AA}"/>
              </a:ext>
            </a:extLst>
          </p:cNvPr>
          <p:cNvSpPr>
            <a:spLocks xmlns:a="http://schemas.openxmlformats.org/drawingml/2006/main" noGrp="1"/>
          </p:cNvSpPr>
          <p:nvPr/>
        </p:nvSpPr>
        <p:spPr>
          <a:xfrm xmlns:a="http://schemas.openxmlformats.org/drawingml/2006/main">
            <a:off x="914400" y="26193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Protected routes require a signed access token.</a:t>
            </a:r>
          </a:p>
        </p:txBody>
      </p:sp>
      <p:sp>
        <p:nvSpPr>
          <p:cNvPr id="8" name="">
            <a:extLst xmlns:a="http://schemas.openxmlformats.org/drawingml/2006/main">
              <a:ext uri="{FF2B5EF4-FFF2-40B4-BE49-F238E27FC236}">
                <a16:creationId xmlns:a16="http://schemas.microsoft.com/office/drawing/2014/main" id="{49A7DFA2-EC48-41EE-AE0C-58767F3C0C37}"/>
              </a:ext>
            </a:extLst>
          </p:cNvPr>
          <p:cNvSpPr>
            <a:spLocks xmlns:a="http://schemas.openxmlformats.org/drawingml/2006/main" noGrp="1"/>
          </p:cNvSpPr>
          <p:nvPr/>
        </p:nvSpPr>
        <p:spPr>
          <a:xfrm xmlns:a="http://schemas.openxmlformats.org/drawingml/2006/main">
            <a:off x="5924550" y="2028825"/>
            <a:ext cx="4648200" cy="1200150"/>
          </a:xfrm>
          <a:prstGeom xmlns:a="http://schemas.openxmlformats.org/drawingml/2006/main" prst="roundRect">
            <a:avLst>
              <a:gd name="adj" fmla="val 9524"/>
            </a:avLst>
          </a:prstGeom>
          <a:solidFill xmlns:a="http://schemas.openxmlformats.org/drawingml/2006/main">
            <a:srgbClr val="F7FAFD"/>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ECE7ACBD-E41A-4E94-834B-C9D25A88614A}"/>
              </a:ext>
            </a:extLst>
          </p:cNvPr>
          <p:cNvSpPr>
            <a:spLocks xmlns:a="http://schemas.openxmlformats.org/drawingml/2006/main" noGrp="1"/>
          </p:cNvSpPr>
          <p:nvPr/>
        </p:nvSpPr>
        <p:spPr>
          <a:xfrm xmlns:a="http://schemas.openxmlformats.org/drawingml/2006/main">
            <a:off x="6153150" y="22383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User-scoped records</a:t>
            </a:r>
          </a:p>
        </p:txBody>
      </p:sp>
      <p:sp>
        <p:nvSpPr>
          <p:cNvPr id="10" name="">
            <a:extLst xmlns:a="http://schemas.openxmlformats.org/drawingml/2006/main">
              <a:ext uri="{FF2B5EF4-FFF2-40B4-BE49-F238E27FC236}">
                <a16:creationId xmlns:a16="http://schemas.microsoft.com/office/drawing/2014/main" id="{6E74341A-7BC7-46B5-9202-A2BD261ADDA1}"/>
              </a:ext>
            </a:extLst>
          </p:cNvPr>
          <p:cNvSpPr>
            <a:spLocks xmlns:a="http://schemas.openxmlformats.org/drawingml/2006/main" noGrp="1"/>
          </p:cNvSpPr>
          <p:nvPr/>
        </p:nvSpPr>
        <p:spPr>
          <a:xfrm xmlns:a="http://schemas.openxmlformats.org/drawingml/2006/main">
            <a:off x="6153150" y="26193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Documents and analyses are filtered by owner.</a:t>
            </a:r>
          </a:p>
        </p:txBody>
      </p:sp>
      <p:sp>
        <p:nvSpPr>
          <p:cNvPr id="11" name="">
            <a:extLst xmlns:a="http://schemas.openxmlformats.org/drawingml/2006/main">
              <a:ext uri="{FF2B5EF4-FFF2-40B4-BE49-F238E27FC236}">
                <a16:creationId xmlns:a16="http://schemas.microsoft.com/office/drawing/2014/main" id="{539EA9E3-EF30-440C-93DB-326B4FDBF8CC}"/>
              </a:ext>
            </a:extLst>
          </p:cNvPr>
          <p:cNvSpPr>
            <a:spLocks xmlns:a="http://schemas.openxmlformats.org/drawingml/2006/main" noGrp="1"/>
          </p:cNvSpPr>
          <p:nvPr/>
        </p:nvSpPr>
        <p:spPr>
          <a:xfrm xmlns:a="http://schemas.openxmlformats.org/drawingml/2006/main">
            <a:off x="685800" y="3600450"/>
            <a:ext cx="4648200" cy="1200150"/>
          </a:xfrm>
          <a:prstGeom xmlns:a="http://schemas.openxmlformats.org/drawingml/2006/main" prst="roundRect">
            <a:avLst>
              <a:gd name="adj" fmla="val 9524"/>
            </a:avLst>
          </a:prstGeom>
          <a:solidFill xmlns:a="http://schemas.openxmlformats.org/drawingml/2006/main">
            <a:srgbClr val="F7FAFD"/>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6E2C9773-48E3-45B8-B5B8-A3F780CE8387}"/>
              </a:ext>
            </a:extLst>
          </p:cNvPr>
          <p:cNvSpPr>
            <a:spLocks xmlns:a="http://schemas.openxmlformats.org/drawingml/2006/main" noGrp="1"/>
          </p:cNvSpPr>
          <p:nvPr/>
        </p:nvSpPr>
        <p:spPr>
          <a:xfrm xmlns:a="http://schemas.openxmlformats.org/drawingml/2006/main">
            <a:off x="914400" y="38100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Safe upload handling</a:t>
            </a:r>
          </a:p>
        </p:txBody>
      </p:sp>
      <p:sp>
        <p:nvSpPr>
          <p:cNvPr id="13" name="">
            <a:extLst xmlns:a="http://schemas.openxmlformats.org/drawingml/2006/main">
              <a:ext uri="{FF2B5EF4-FFF2-40B4-BE49-F238E27FC236}">
                <a16:creationId xmlns:a16="http://schemas.microsoft.com/office/drawing/2014/main" id="{BE41339B-FCAF-4A91-9167-8132309BF4F6}"/>
              </a:ext>
            </a:extLst>
          </p:cNvPr>
          <p:cNvSpPr>
            <a:spLocks xmlns:a="http://schemas.openxmlformats.org/drawingml/2006/main" noGrp="1"/>
          </p:cNvSpPr>
          <p:nvPr/>
        </p:nvSpPr>
        <p:spPr>
          <a:xfrm xmlns:a="http://schemas.openxmlformats.org/drawingml/2006/main">
            <a:off x="914400" y="4191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Filenames are normalized and supported formats are validated.</a:t>
            </a:r>
          </a:p>
        </p:txBody>
      </p:sp>
      <p:sp>
        <p:nvSpPr>
          <p:cNvPr id="14" name="">
            <a:extLst xmlns:a="http://schemas.openxmlformats.org/drawingml/2006/main">
              <a:ext uri="{FF2B5EF4-FFF2-40B4-BE49-F238E27FC236}">
                <a16:creationId xmlns:a16="http://schemas.microsoft.com/office/drawing/2014/main" id="{0037B0CB-CAC8-498D-A58C-B2FECDF1D4C7}"/>
              </a:ext>
            </a:extLst>
          </p:cNvPr>
          <p:cNvSpPr>
            <a:spLocks xmlns:a="http://schemas.openxmlformats.org/drawingml/2006/main" noGrp="1"/>
          </p:cNvSpPr>
          <p:nvPr/>
        </p:nvSpPr>
        <p:spPr>
          <a:xfrm xmlns:a="http://schemas.openxmlformats.org/drawingml/2006/main">
            <a:off x="5924550" y="3600450"/>
            <a:ext cx="4648200" cy="1200150"/>
          </a:xfrm>
          <a:prstGeom xmlns:a="http://schemas.openxmlformats.org/drawingml/2006/main" prst="roundRect">
            <a:avLst>
              <a:gd name="adj" fmla="val 9524"/>
            </a:avLst>
          </a:prstGeom>
          <a:solidFill xmlns:a="http://schemas.openxmlformats.org/drawingml/2006/main">
            <a:srgbClr val="F7FAFD"/>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8AB3B0C9-02F5-4DF8-B1FB-152A52709920}"/>
              </a:ext>
            </a:extLst>
          </p:cNvPr>
          <p:cNvSpPr>
            <a:spLocks xmlns:a="http://schemas.openxmlformats.org/drawingml/2006/main" noGrp="1"/>
          </p:cNvSpPr>
          <p:nvPr/>
        </p:nvSpPr>
        <p:spPr>
          <a:xfrm xmlns:a="http://schemas.openxmlformats.org/drawingml/2006/main">
            <a:off x="6153150" y="38100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238"/>
                </a:solidFill>
                <a:latin typeface="Arial"/>
                <a:ea typeface="Arial"/>
                <a:cs typeface="Arial"/>
              </a:defRPr>
            </a:pPr>
            <a:r>
              <a:rPr sz="1650" b="1">
                <a:solidFill>
                  <a:srgbClr val="102238"/>
                </a:solidFill>
                <a:latin typeface="Arial"/>
                <a:ea typeface="Arial"/>
                <a:cs typeface="Arial"/>
              </a:rPr>
              <a:t>Stable signing key</a:t>
            </a:r>
          </a:p>
        </p:txBody>
      </p:sp>
      <p:sp>
        <p:nvSpPr>
          <p:cNvPr id="16" name="">
            <a:extLst xmlns:a="http://schemas.openxmlformats.org/drawingml/2006/main">
              <a:ext uri="{FF2B5EF4-FFF2-40B4-BE49-F238E27FC236}">
                <a16:creationId xmlns:a16="http://schemas.microsoft.com/office/drawing/2014/main" id="{26ADF243-BD63-4B5F-9B7C-73D96C8B6A4F}"/>
              </a:ext>
            </a:extLst>
          </p:cNvPr>
          <p:cNvSpPr>
            <a:spLocks xmlns:a="http://schemas.openxmlformats.org/drawingml/2006/main" noGrp="1"/>
          </p:cNvSpPr>
          <p:nvPr/>
        </p:nvSpPr>
        <p:spPr>
          <a:xfrm xmlns:a="http://schemas.openxmlformats.org/drawingml/2006/main">
            <a:off x="6153150" y="4191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The configured secret loads before auth initialization, so reloads do not invalidate active tokens.</a:t>
            </a:r>
          </a:p>
        </p:txBody>
      </p:sp>
    </p:spTree>
    <p:extLst>
      <p:ext uri="{BB962C8B-B14F-4D97-AF65-F5344CB8AC3E}">
        <p14:creationId xmlns:p14="http://schemas.microsoft.com/office/powerpoint/2010/main" val="1064499617"/>
      </p:ext>
    </p:extLst>
  </p:cSld>
</p:sld>
</file>

<file path=ppt/slides/slide9.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19CC50-BE69-4437-AC77-7535BCD5C149}"/>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THE OUTPUT IS DESIGNED FOR ACTION</a:t>
            </a:r>
          </a:p>
        </p:txBody>
      </p:sp>
      <p:sp>
        <p:nvSpPr>
          <p:cNvPr id="2" name="">
            <a:extLst xmlns:a="http://schemas.openxmlformats.org/drawingml/2006/main">
              <a:ext uri="{FF2B5EF4-FFF2-40B4-BE49-F238E27FC236}">
                <a16:creationId xmlns:a16="http://schemas.microsoft.com/office/drawing/2014/main" id="{9213CAF6-E951-47AD-BDD1-60233E73C6E1}"/>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982"/>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Clarafin presents the current state, blind spots, forward flags, and the evidence behind them.</a:t>
            </a:r>
          </a:p>
        </p:txBody>
      </p:sp>
      <p:sp>
        <p:nvSpPr>
          <p:cNvPr id="3" name="">
            <a:extLst xmlns:a="http://schemas.openxmlformats.org/drawingml/2006/main">
              <a:ext uri="{FF2B5EF4-FFF2-40B4-BE49-F238E27FC236}">
                <a16:creationId xmlns:a16="http://schemas.microsoft.com/office/drawing/2014/main" id="{E49885DA-B43D-4F88-878D-39EE9B10EECD}"/>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8404BAA7-F936-4B0D-92BF-236BAC4C35EF}"/>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431C42A-5891-44BA-9080-44C5A916AD5D}"/>
              </a:ext>
            </a:extLst>
          </p:cNvPr>
          <p:cNvSpPr>
            <a:spLocks xmlns:a="http://schemas.openxmlformats.org/drawingml/2006/main" noGrp="1"/>
          </p:cNvSpPr>
          <p:nvPr/>
        </p:nvSpPr>
        <p:spPr>
          <a:xfrm xmlns:a="http://schemas.openxmlformats.org/drawingml/2006/main">
            <a:off x="590550" y="2152650"/>
            <a:ext cx="2381250" cy="2495550"/>
          </a:xfrm>
          <a:prstGeom xmlns:a="http://schemas.openxmlformats.org/drawingml/2006/main" prst="roundRect">
            <a:avLst>
              <a:gd name="adj" fmla="val 4800"/>
            </a:avLst>
          </a:prstGeom>
          <a:solidFill xmlns:a="http://schemas.openxmlformats.org/drawingml/2006/main">
            <a:srgbClr val="0B1A2C"/>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A51B5294-B94B-4321-A46A-38AC0B2E1C5D}"/>
              </a:ext>
            </a:extLst>
          </p:cNvPr>
          <p:cNvSpPr>
            <a:spLocks xmlns:a="http://schemas.openxmlformats.org/drawingml/2006/main" noGrp="1"/>
          </p:cNvSpPr>
          <p:nvPr/>
        </p:nvSpPr>
        <p:spPr>
          <a:xfrm xmlns:a="http://schemas.openxmlformats.org/drawingml/2006/main">
            <a:off x="790575" y="2390775"/>
            <a:ext cx="1943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Current state</a:t>
            </a:r>
          </a:p>
        </p:txBody>
      </p:sp>
      <p:sp>
        <p:nvSpPr>
          <p:cNvPr id="7" name="">
            <a:extLst xmlns:a="http://schemas.openxmlformats.org/drawingml/2006/main">
              <a:ext uri="{FF2B5EF4-FFF2-40B4-BE49-F238E27FC236}">
                <a16:creationId xmlns:a16="http://schemas.microsoft.com/office/drawing/2014/main" id="{11B370AB-3929-4991-9F7A-DCD9D3C33A53}"/>
              </a:ext>
            </a:extLst>
          </p:cNvPr>
          <p:cNvSpPr>
            <a:spLocks xmlns:a="http://schemas.openxmlformats.org/drawingml/2006/main" noGrp="1"/>
          </p:cNvSpPr>
          <p:nvPr/>
        </p:nvSpPr>
        <p:spPr>
          <a:xfrm xmlns:a="http://schemas.openxmlformats.org/drawingml/2006/main">
            <a:off x="790575" y="3133725"/>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Liquidity, margins, concentration, and transaction patterns.</a:t>
            </a:r>
          </a:p>
        </p:txBody>
      </p:sp>
      <p:sp>
        <p:nvSpPr>
          <p:cNvPr id="8" name="">
            <a:extLst xmlns:a="http://schemas.openxmlformats.org/drawingml/2006/main">
              <a:ext uri="{FF2B5EF4-FFF2-40B4-BE49-F238E27FC236}">
                <a16:creationId xmlns:a16="http://schemas.microsoft.com/office/drawing/2014/main" id="{A9E1F5C6-B2AC-4EB9-BD4E-FD858A153CE6}"/>
              </a:ext>
            </a:extLst>
          </p:cNvPr>
          <p:cNvSpPr>
            <a:spLocks xmlns:a="http://schemas.openxmlformats.org/drawingml/2006/main" noGrp="1"/>
          </p:cNvSpPr>
          <p:nvPr/>
        </p:nvSpPr>
        <p:spPr>
          <a:xfrm xmlns:a="http://schemas.openxmlformats.org/drawingml/2006/main">
            <a:off x="3371850" y="2152650"/>
            <a:ext cx="2381250" cy="24955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61A321B2-F8DD-4258-A6D0-005FC553FD13}"/>
              </a:ext>
            </a:extLst>
          </p:cNvPr>
          <p:cNvSpPr>
            <a:spLocks xmlns:a="http://schemas.openxmlformats.org/drawingml/2006/main" noGrp="1"/>
          </p:cNvSpPr>
          <p:nvPr/>
        </p:nvSpPr>
        <p:spPr>
          <a:xfrm xmlns:a="http://schemas.openxmlformats.org/drawingml/2006/main">
            <a:off x="3571875" y="2390775"/>
            <a:ext cx="1943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238"/>
                </a:solidFill>
                <a:latin typeface="Arial"/>
                <a:ea typeface="Arial"/>
                <a:cs typeface="Arial"/>
              </a:defRPr>
            </a:pPr>
            <a:r>
              <a:rPr sz="1800" b="1">
                <a:solidFill>
                  <a:srgbClr val="102238"/>
                </a:solidFill>
                <a:latin typeface="Arial"/>
                <a:ea typeface="Arial"/>
                <a:cs typeface="Arial"/>
              </a:rPr>
              <a:t>Gaps detected</a:t>
            </a:r>
          </a:p>
        </p:txBody>
      </p:sp>
      <p:sp>
        <p:nvSpPr>
          <p:cNvPr id="10" name="">
            <a:extLst xmlns:a="http://schemas.openxmlformats.org/drawingml/2006/main">
              <a:ext uri="{FF2B5EF4-FFF2-40B4-BE49-F238E27FC236}">
                <a16:creationId xmlns:a16="http://schemas.microsoft.com/office/drawing/2014/main" id="{D6A552D6-73D7-4C82-95AB-31654BA289C1}"/>
              </a:ext>
            </a:extLst>
          </p:cNvPr>
          <p:cNvSpPr>
            <a:spLocks xmlns:a="http://schemas.openxmlformats.org/drawingml/2006/main" noGrp="1"/>
          </p:cNvSpPr>
          <p:nvPr/>
        </p:nvSpPr>
        <p:spPr>
          <a:xfrm xmlns:a="http://schemas.openxmlformats.org/drawingml/2006/main">
            <a:off x="3571875" y="3133725"/>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Missing records that block a confident decision.</a:t>
            </a:r>
          </a:p>
        </p:txBody>
      </p:sp>
      <p:sp>
        <p:nvSpPr>
          <p:cNvPr id="11" name="">
            <a:extLst xmlns:a="http://schemas.openxmlformats.org/drawingml/2006/main">
              <a:ext uri="{FF2B5EF4-FFF2-40B4-BE49-F238E27FC236}">
                <a16:creationId xmlns:a16="http://schemas.microsoft.com/office/drawing/2014/main" id="{1027DF67-DA9D-4BA1-B9AF-8BEAC99703A2}"/>
              </a:ext>
            </a:extLst>
          </p:cNvPr>
          <p:cNvSpPr>
            <a:spLocks xmlns:a="http://schemas.openxmlformats.org/drawingml/2006/main" noGrp="1"/>
          </p:cNvSpPr>
          <p:nvPr/>
        </p:nvSpPr>
        <p:spPr>
          <a:xfrm xmlns:a="http://schemas.openxmlformats.org/drawingml/2006/main">
            <a:off x="6153150" y="2152650"/>
            <a:ext cx="2381250" cy="24955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C9A4E0A4-5AB5-472C-8821-BA6C855B076A}"/>
              </a:ext>
            </a:extLst>
          </p:cNvPr>
          <p:cNvSpPr>
            <a:spLocks xmlns:a="http://schemas.openxmlformats.org/drawingml/2006/main" noGrp="1"/>
          </p:cNvSpPr>
          <p:nvPr/>
        </p:nvSpPr>
        <p:spPr>
          <a:xfrm xmlns:a="http://schemas.openxmlformats.org/drawingml/2006/main">
            <a:off x="6353175" y="2390775"/>
            <a:ext cx="1943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238"/>
                </a:solidFill>
                <a:latin typeface="Arial"/>
                <a:ea typeface="Arial"/>
                <a:cs typeface="Arial"/>
              </a:defRPr>
            </a:pPr>
            <a:r>
              <a:rPr sz="1800" b="1">
                <a:solidFill>
                  <a:srgbClr val="102238"/>
                </a:solidFill>
                <a:latin typeface="Arial"/>
                <a:ea typeface="Arial"/>
                <a:cs typeface="Arial"/>
              </a:rPr>
              <a:t>Forward flags</a:t>
            </a:r>
          </a:p>
        </p:txBody>
      </p:sp>
      <p:sp>
        <p:nvSpPr>
          <p:cNvPr id="13" name="">
            <a:extLst xmlns:a="http://schemas.openxmlformats.org/drawingml/2006/main">
              <a:ext uri="{FF2B5EF4-FFF2-40B4-BE49-F238E27FC236}">
                <a16:creationId xmlns:a16="http://schemas.microsoft.com/office/drawing/2014/main" id="{2A942F4F-0A9B-4FEB-A63F-D41CC26D9B99}"/>
              </a:ext>
            </a:extLst>
          </p:cNvPr>
          <p:cNvSpPr>
            <a:spLocks xmlns:a="http://schemas.openxmlformats.org/drawingml/2006/main" noGrp="1"/>
          </p:cNvSpPr>
          <p:nvPr/>
        </p:nvSpPr>
        <p:spPr>
          <a:xfrm xmlns:a="http://schemas.openxmlformats.org/drawingml/2006/main">
            <a:off x="6353175" y="3133725"/>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Reasoned signals requiring follow-up.</a:t>
            </a:r>
          </a:p>
        </p:txBody>
      </p:sp>
      <p:sp>
        <p:nvSpPr>
          <p:cNvPr id="14" name="">
            <a:extLst xmlns:a="http://schemas.openxmlformats.org/drawingml/2006/main">
              <a:ext uri="{FF2B5EF4-FFF2-40B4-BE49-F238E27FC236}">
                <a16:creationId xmlns:a16="http://schemas.microsoft.com/office/drawing/2014/main" id="{315FAF19-657A-4999-B8C1-E76B9AC58740}"/>
              </a:ext>
            </a:extLst>
          </p:cNvPr>
          <p:cNvSpPr>
            <a:spLocks xmlns:a="http://schemas.openxmlformats.org/drawingml/2006/main" noGrp="1"/>
          </p:cNvSpPr>
          <p:nvPr/>
        </p:nvSpPr>
        <p:spPr>
          <a:xfrm xmlns:a="http://schemas.openxmlformats.org/drawingml/2006/main">
            <a:off x="8934450" y="2152650"/>
            <a:ext cx="2381250" cy="24955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BDFD9B9A-D1E7-497E-9077-ED820D63FDE5}"/>
              </a:ext>
            </a:extLst>
          </p:cNvPr>
          <p:cNvSpPr>
            <a:spLocks xmlns:a="http://schemas.openxmlformats.org/drawingml/2006/main" noGrp="1"/>
          </p:cNvSpPr>
          <p:nvPr/>
        </p:nvSpPr>
        <p:spPr>
          <a:xfrm xmlns:a="http://schemas.openxmlformats.org/drawingml/2006/main">
            <a:off x="9134475" y="2390775"/>
            <a:ext cx="1943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31"/>
          </a:bodyPr>
          <a:lstStyle xmlns:a="http://schemas.openxmlformats.org/drawingml/2006/main"/>
          <a:p xmlns:a="http://schemas.openxmlformats.org/drawingml/2006/main">
            <a:pPr algn="l">
              <a:defRPr sz="1800" b="1">
                <a:solidFill>
                  <a:srgbClr val="102238"/>
                </a:solidFill>
                <a:latin typeface="Arial"/>
                <a:ea typeface="Arial"/>
                <a:cs typeface="Arial"/>
              </a:defRPr>
            </a:pPr>
            <a:r>
              <a:rPr sz="1800" b="1">
                <a:solidFill>
                  <a:srgbClr val="102238"/>
                </a:solidFill>
                <a:latin typeface="Arial"/>
                <a:ea typeface="Arial"/>
                <a:cs typeface="Arial"/>
              </a:rPr>
              <a:t>Source traceability</a:t>
            </a:r>
          </a:p>
        </p:txBody>
      </p:sp>
      <p:sp>
        <p:nvSpPr>
          <p:cNvPr id="16" name="">
            <a:extLst xmlns:a="http://schemas.openxmlformats.org/drawingml/2006/main">
              <a:ext uri="{FF2B5EF4-FFF2-40B4-BE49-F238E27FC236}">
                <a16:creationId xmlns:a16="http://schemas.microsoft.com/office/drawing/2014/main" id="{A471BAA5-16FC-4261-BAD2-DD4F65981C08}"/>
              </a:ext>
            </a:extLst>
          </p:cNvPr>
          <p:cNvSpPr>
            <a:spLocks xmlns:a="http://schemas.openxmlformats.org/drawingml/2006/main" noGrp="1"/>
          </p:cNvSpPr>
          <p:nvPr/>
        </p:nvSpPr>
        <p:spPr>
          <a:xfrm xmlns:a="http://schemas.openxmlformats.org/drawingml/2006/main">
            <a:off x="9134475" y="3133725"/>
            <a:ext cx="194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7087"/>
                </a:solidFill>
                <a:latin typeface="Arial"/>
                <a:ea typeface="Arial"/>
                <a:cs typeface="Arial"/>
              </a:defRPr>
            </a:pPr>
            <a:r>
              <a:rPr sz="1275" b="0">
                <a:solidFill>
                  <a:srgbClr val="5D7087"/>
                </a:solidFill>
                <a:latin typeface="Arial"/>
                <a:ea typeface="Arial"/>
                <a:cs typeface="Arial"/>
              </a:rPr>
              <a:t>Click through to the supporting document excerpt.</a:t>
            </a:r>
          </a:p>
        </p:txBody>
      </p:sp>
      <p:sp>
        <p:nvSpPr>
          <p:cNvPr id="17" name="">
            <a:extLst xmlns:a="http://schemas.openxmlformats.org/drawingml/2006/main">
              <a:ext uri="{FF2B5EF4-FFF2-40B4-BE49-F238E27FC236}">
                <a16:creationId xmlns:a16="http://schemas.microsoft.com/office/drawing/2014/main" id="{8C6316D7-2DB1-4BFB-83CA-EE644790138B}"/>
              </a:ext>
            </a:extLst>
          </p:cNvPr>
          <p:cNvSpPr>
            <a:spLocks xmlns:a="http://schemas.openxmlformats.org/drawingml/2006/main" noGrp="1"/>
          </p:cNvSpPr>
          <p:nvPr/>
        </p:nvSpPr>
        <p:spPr>
          <a:xfrm xmlns:a="http://schemas.openxmlformats.org/drawingml/2006/main">
            <a:off x="590550" y="53149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02238"/>
                </a:solidFill>
                <a:latin typeface="Arial"/>
                <a:ea typeface="Arial"/>
                <a:cs typeface="Arial"/>
              </a:defRPr>
            </a:pPr>
            <a:r>
              <a:rPr sz="1950" b="1">
                <a:solidFill>
                  <a:srgbClr val="102238"/>
                </a:solidFill>
                <a:latin typeface="Arial"/>
                <a:ea typeface="Arial"/>
                <a:cs typeface="Arial"/>
              </a:rPr>
              <a:t>The goal is not another dashboard. It is a defensible next conversation.</a:t>
            </a:r>
          </a:p>
        </p:txBody>
      </p:sp>
    </p:spTree>
    <p:extLst>
      <p:ext uri="{BB962C8B-B14F-4D97-AF65-F5344CB8AC3E}">
        <p14:creationId xmlns:p14="http://schemas.microsoft.com/office/powerpoint/2010/main" val="20829001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A5A2C5-858A-41EF-8C38-4CA99072C679}"/>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THE IMPLEMENTATION IS PRACTICAL AND EXTENSIBLE</a:t>
            </a:r>
          </a:p>
        </p:txBody>
      </p:sp>
      <p:sp>
        <p:nvSpPr>
          <p:cNvPr id="2" name="">
            <a:extLst xmlns:a="http://schemas.openxmlformats.org/drawingml/2006/main">
              <a:ext uri="{FF2B5EF4-FFF2-40B4-BE49-F238E27FC236}">
                <a16:creationId xmlns:a16="http://schemas.microsoft.com/office/drawing/2014/main" id="{A54439A3-2C30-4A11-B605-7571A1691476}"/>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982"/>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A focused stack supports a working local product today and a stronger platform tomorrow.</a:t>
            </a:r>
          </a:p>
        </p:txBody>
      </p:sp>
      <p:sp>
        <p:nvSpPr>
          <p:cNvPr id="3" name="">
            <a:extLst xmlns:a="http://schemas.openxmlformats.org/drawingml/2006/main">
              <a:ext uri="{FF2B5EF4-FFF2-40B4-BE49-F238E27FC236}">
                <a16:creationId xmlns:a16="http://schemas.microsoft.com/office/drawing/2014/main" id="{D76A161E-BC46-4DF0-9466-3E7F5AAACEBB}"/>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BB4D408D-5719-41D0-AD82-A89F6B7A47C1}"/>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FB02F69-6284-4C9A-BB21-34E1D434355E}"/>
              </a:ext>
            </a:extLst>
          </p:cNvPr>
          <p:cNvSpPr>
            <a:spLocks xmlns:a="http://schemas.openxmlformats.org/drawingml/2006/main" noGrp="1"/>
          </p:cNvSpPr>
          <p:nvPr/>
        </p:nvSpPr>
        <p:spPr>
          <a:xfrm xmlns:a="http://schemas.openxmlformats.org/drawingml/2006/main">
            <a:off x="647700" y="1952625"/>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2DE69EFA-3CD6-429E-800F-EE1A948DD5B2}"/>
              </a:ext>
            </a:extLst>
          </p:cNvPr>
          <p:cNvSpPr>
            <a:spLocks xmlns:a="http://schemas.openxmlformats.org/drawingml/2006/main" noGrp="1"/>
          </p:cNvSpPr>
          <p:nvPr/>
        </p:nvSpPr>
        <p:spPr>
          <a:xfrm xmlns:a="http://schemas.openxmlformats.org/drawingml/2006/main">
            <a:off x="857250" y="21431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Frontend</a:t>
            </a:r>
          </a:p>
        </p:txBody>
      </p:sp>
      <p:sp>
        <p:nvSpPr>
          <p:cNvPr id="7" name="">
            <a:extLst xmlns:a="http://schemas.openxmlformats.org/drawingml/2006/main">
              <a:ext uri="{FF2B5EF4-FFF2-40B4-BE49-F238E27FC236}">
                <a16:creationId xmlns:a16="http://schemas.microsoft.com/office/drawing/2014/main" id="{7FAD752B-5A95-4C2A-AE10-36A61D6C083B}"/>
              </a:ext>
            </a:extLst>
          </p:cNvPr>
          <p:cNvSpPr>
            <a:spLocks xmlns:a="http://schemas.openxmlformats.org/drawingml/2006/main" noGrp="1"/>
          </p:cNvSpPr>
          <p:nvPr/>
        </p:nvSpPr>
        <p:spPr>
          <a:xfrm xmlns:a="http://schemas.openxmlformats.org/drawingml/2006/main">
            <a:off x="857250" y="25050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React + Vite</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Lucide UI icons</a:t>
            </a:r>
          </a:p>
        </p:txBody>
      </p:sp>
      <p:sp>
        <p:nvSpPr>
          <p:cNvPr id="8" name="">
            <a:extLst xmlns:a="http://schemas.openxmlformats.org/drawingml/2006/main">
              <a:ext uri="{FF2B5EF4-FFF2-40B4-BE49-F238E27FC236}">
                <a16:creationId xmlns:a16="http://schemas.microsoft.com/office/drawing/2014/main" id="{4885D216-37A5-4B8F-AFC7-D20977467497}"/>
              </a:ext>
            </a:extLst>
          </p:cNvPr>
          <p:cNvSpPr>
            <a:spLocks xmlns:a="http://schemas.openxmlformats.org/drawingml/2006/main" noGrp="1"/>
          </p:cNvSpPr>
          <p:nvPr/>
        </p:nvSpPr>
        <p:spPr>
          <a:xfrm xmlns:a="http://schemas.openxmlformats.org/drawingml/2006/main">
            <a:off x="4324350" y="1952625"/>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067E19DA-81B5-49E5-B99E-3497DF627101}"/>
              </a:ext>
            </a:extLst>
          </p:cNvPr>
          <p:cNvSpPr>
            <a:spLocks xmlns:a="http://schemas.openxmlformats.org/drawingml/2006/main" noGrp="1"/>
          </p:cNvSpPr>
          <p:nvPr/>
        </p:nvSpPr>
        <p:spPr>
          <a:xfrm xmlns:a="http://schemas.openxmlformats.org/drawingml/2006/main">
            <a:off x="4533900" y="21431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Backend</a:t>
            </a:r>
          </a:p>
        </p:txBody>
      </p:sp>
      <p:sp>
        <p:nvSpPr>
          <p:cNvPr id="10" name="">
            <a:extLst xmlns:a="http://schemas.openxmlformats.org/drawingml/2006/main">
              <a:ext uri="{FF2B5EF4-FFF2-40B4-BE49-F238E27FC236}">
                <a16:creationId xmlns:a16="http://schemas.microsoft.com/office/drawing/2014/main" id="{F9E4F567-5426-41F4-9E2A-FB44EE809A72}"/>
              </a:ext>
            </a:extLst>
          </p:cNvPr>
          <p:cNvSpPr>
            <a:spLocks xmlns:a="http://schemas.openxmlformats.org/drawingml/2006/main" noGrp="1"/>
          </p:cNvSpPr>
          <p:nvPr/>
        </p:nvSpPr>
        <p:spPr>
          <a:xfrm xmlns:a="http://schemas.openxmlformats.org/drawingml/2006/main">
            <a:off x="4533900" y="25050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FastAPI + Uvicorn</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Pydantic models</a:t>
            </a:r>
          </a:p>
        </p:txBody>
      </p:sp>
      <p:sp>
        <p:nvSpPr>
          <p:cNvPr id="11" name="">
            <a:extLst xmlns:a="http://schemas.openxmlformats.org/drawingml/2006/main">
              <a:ext uri="{FF2B5EF4-FFF2-40B4-BE49-F238E27FC236}">
                <a16:creationId xmlns:a16="http://schemas.microsoft.com/office/drawing/2014/main" id="{77118AF0-DAD6-46B9-84E8-A1C1F78D07C7}"/>
              </a:ext>
            </a:extLst>
          </p:cNvPr>
          <p:cNvSpPr>
            <a:spLocks xmlns:a="http://schemas.openxmlformats.org/drawingml/2006/main" noGrp="1"/>
          </p:cNvSpPr>
          <p:nvPr/>
        </p:nvSpPr>
        <p:spPr>
          <a:xfrm xmlns:a="http://schemas.openxmlformats.org/drawingml/2006/main">
            <a:off x="8001000" y="1952625"/>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1E6A0AF5-3042-475F-A109-0D1614B97796}"/>
              </a:ext>
            </a:extLst>
          </p:cNvPr>
          <p:cNvSpPr>
            <a:spLocks xmlns:a="http://schemas.openxmlformats.org/drawingml/2006/main" noGrp="1"/>
          </p:cNvSpPr>
          <p:nvPr/>
        </p:nvSpPr>
        <p:spPr>
          <a:xfrm xmlns:a="http://schemas.openxmlformats.org/drawingml/2006/main">
            <a:off x="8210550" y="21431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Data</a:t>
            </a:r>
          </a:p>
        </p:txBody>
      </p:sp>
      <p:sp>
        <p:nvSpPr>
          <p:cNvPr id="13" name="">
            <a:extLst xmlns:a="http://schemas.openxmlformats.org/drawingml/2006/main">
              <a:ext uri="{FF2B5EF4-FFF2-40B4-BE49-F238E27FC236}">
                <a16:creationId xmlns:a16="http://schemas.microsoft.com/office/drawing/2014/main" id="{3485C2CA-6734-43B7-9A80-F1F849B266AE}"/>
              </a:ext>
            </a:extLst>
          </p:cNvPr>
          <p:cNvSpPr>
            <a:spLocks xmlns:a="http://schemas.openxmlformats.org/drawingml/2006/main" noGrp="1"/>
          </p:cNvSpPr>
          <p:nvPr/>
        </p:nvSpPr>
        <p:spPr>
          <a:xfrm xmlns:a="http://schemas.openxmlformats.org/drawingml/2006/main">
            <a:off x="8210550" y="25050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SQLite</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Local upload storage</a:t>
            </a:r>
          </a:p>
        </p:txBody>
      </p:sp>
      <p:sp>
        <p:nvSpPr>
          <p:cNvPr id="14" name="">
            <a:extLst xmlns:a="http://schemas.openxmlformats.org/drawingml/2006/main">
              <a:ext uri="{FF2B5EF4-FFF2-40B4-BE49-F238E27FC236}">
                <a16:creationId xmlns:a16="http://schemas.microsoft.com/office/drawing/2014/main" id="{FD1B5C52-06E5-43DC-8CDC-404053FA84D6}"/>
              </a:ext>
            </a:extLst>
          </p:cNvPr>
          <p:cNvSpPr>
            <a:spLocks xmlns:a="http://schemas.openxmlformats.org/drawingml/2006/main" noGrp="1"/>
          </p:cNvSpPr>
          <p:nvPr/>
        </p:nvSpPr>
        <p:spPr>
          <a:xfrm xmlns:a="http://schemas.openxmlformats.org/drawingml/2006/main">
            <a:off x="647700" y="3714750"/>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71BCDC73-34F6-40C9-AE76-2A66A9326A2B}"/>
              </a:ext>
            </a:extLst>
          </p:cNvPr>
          <p:cNvSpPr>
            <a:spLocks xmlns:a="http://schemas.openxmlformats.org/drawingml/2006/main" noGrp="1"/>
          </p:cNvSpPr>
          <p:nvPr/>
        </p:nvSpPr>
        <p:spPr>
          <a:xfrm xmlns:a="http://schemas.openxmlformats.org/drawingml/2006/main">
            <a:off x="857250" y="3905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Documents</a:t>
            </a:r>
          </a:p>
        </p:txBody>
      </p:sp>
      <p:sp>
        <p:nvSpPr>
          <p:cNvPr id="16" name="">
            <a:extLst xmlns:a="http://schemas.openxmlformats.org/drawingml/2006/main">
              <a:ext uri="{FF2B5EF4-FFF2-40B4-BE49-F238E27FC236}">
                <a16:creationId xmlns:a16="http://schemas.microsoft.com/office/drawing/2014/main" id="{D8EDF10A-3CF4-4C39-9990-EFC1939D8204}"/>
              </a:ext>
            </a:extLst>
          </p:cNvPr>
          <p:cNvSpPr>
            <a:spLocks xmlns:a="http://schemas.openxmlformats.org/drawingml/2006/main" noGrp="1"/>
          </p:cNvSpPr>
          <p:nvPr/>
        </p:nvSpPr>
        <p:spPr>
          <a:xfrm xmlns:a="http://schemas.openxmlformats.org/drawingml/2006/main">
            <a:off x="857250" y="42672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pdfplumber</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pandas + openpyxl</a:t>
            </a:r>
          </a:p>
        </p:txBody>
      </p:sp>
      <p:sp>
        <p:nvSpPr>
          <p:cNvPr id="17" name="">
            <a:extLst xmlns:a="http://schemas.openxmlformats.org/drawingml/2006/main">
              <a:ext uri="{FF2B5EF4-FFF2-40B4-BE49-F238E27FC236}">
                <a16:creationId xmlns:a16="http://schemas.microsoft.com/office/drawing/2014/main" id="{4D21CF87-6120-451C-BD76-874CC87A407E}"/>
              </a:ext>
            </a:extLst>
          </p:cNvPr>
          <p:cNvSpPr>
            <a:spLocks xmlns:a="http://schemas.openxmlformats.org/drawingml/2006/main" noGrp="1"/>
          </p:cNvSpPr>
          <p:nvPr/>
        </p:nvSpPr>
        <p:spPr>
          <a:xfrm xmlns:a="http://schemas.openxmlformats.org/drawingml/2006/main">
            <a:off x="4324350" y="3714750"/>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18" name="">
            <a:extLst xmlns:a="http://schemas.openxmlformats.org/drawingml/2006/main">
              <a:ext uri="{FF2B5EF4-FFF2-40B4-BE49-F238E27FC236}">
                <a16:creationId xmlns:a16="http://schemas.microsoft.com/office/drawing/2014/main" id="{7C3A09F9-6A0C-4DE3-9B43-D34526475E52}"/>
              </a:ext>
            </a:extLst>
          </p:cNvPr>
          <p:cNvSpPr>
            <a:spLocks xmlns:a="http://schemas.openxmlformats.org/drawingml/2006/main" noGrp="1"/>
          </p:cNvSpPr>
          <p:nvPr/>
        </p:nvSpPr>
        <p:spPr>
          <a:xfrm xmlns:a="http://schemas.openxmlformats.org/drawingml/2006/main">
            <a:off x="4533900" y="3905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AI</a:t>
            </a:r>
          </a:p>
        </p:txBody>
      </p:sp>
      <p:sp>
        <p:nvSpPr>
          <p:cNvPr id="19" name="">
            <a:extLst xmlns:a="http://schemas.openxmlformats.org/drawingml/2006/main">
              <a:ext uri="{FF2B5EF4-FFF2-40B4-BE49-F238E27FC236}">
                <a16:creationId xmlns:a16="http://schemas.microsoft.com/office/drawing/2014/main" id="{C304CD4B-06DE-4984-B7BD-98BA9775DEB9}"/>
              </a:ext>
            </a:extLst>
          </p:cNvPr>
          <p:cNvSpPr>
            <a:spLocks xmlns:a="http://schemas.openxmlformats.org/drawingml/2006/main" noGrp="1"/>
          </p:cNvSpPr>
          <p:nvPr/>
        </p:nvSpPr>
        <p:spPr>
          <a:xfrm xmlns:a="http://schemas.openxmlformats.org/drawingml/2006/main">
            <a:off x="4533900" y="42672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Groq API</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Llama model</a:t>
            </a:r>
          </a:p>
        </p:txBody>
      </p:sp>
      <p:sp>
        <p:nvSpPr>
          <p:cNvPr id="20" name="">
            <a:extLst xmlns:a="http://schemas.openxmlformats.org/drawingml/2006/main">
              <a:ext uri="{FF2B5EF4-FFF2-40B4-BE49-F238E27FC236}">
                <a16:creationId xmlns:a16="http://schemas.microsoft.com/office/drawing/2014/main" id="{B1A576D8-F6B2-45BD-86C5-054E318AFBED}"/>
              </a:ext>
            </a:extLst>
          </p:cNvPr>
          <p:cNvSpPr>
            <a:spLocks xmlns:a="http://schemas.openxmlformats.org/drawingml/2006/main" noGrp="1"/>
          </p:cNvSpPr>
          <p:nvPr/>
        </p:nvSpPr>
        <p:spPr>
          <a:xfrm xmlns:a="http://schemas.openxmlformats.org/drawingml/2006/main">
            <a:off x="8001000" y="3714750"/>
            <a:ext cx="3143250" cy="1314450"/>
          </a:xfrm>
          <a:prstGeom xmlns:a="http://schemas.openxmlformats.org/drawingml/2006/main" prst="roundRect">
            <a:avLst>
              <a:gd name="adj" fmla="val 8696"/>
            </a:avLst>
          </a:prstGeom>
          <a:solidFill xmlns:a="http://schemas.openxmlformats.org/drawingml/2006/main">
            <a:srgbClr val="F7FAFD"/>
          </a:solidFill>
          <a:ln xmlns:a="http://schemas.openxmlformats.org/drawingml/2006/main" w="9525">
            <a:solidFill>
              <a:srgbClr val="C7D5E4"/>
            </a:solidFill>
            <a:prstDash val="solid"/>
          </a:ln>
        </p:spPr>
      </p:sp>
      <p:sp>
        <p:nvSpPr>
          <p:cNvPr id="21" name="">
            <a:extLst xmlns:a="http://schemas.openxmlformats.org/drawingml/2006/main">
              <a:ext uri="{FF2B5EF4-FFF2-40B4-BE49-F238E27FC236}">
                <a16:creationId xmlns:a16="http://schemas.microsoft.com/office/drawing/2014/main" id="{FE9ECAAF-0C90-4CEA-85A3-9156D5417698}"/>
              </a:ext>
            </a:extLst>
          </p:cNvPr>
          <p:cNvSpPr>
            <a:spLocks xmlns:a="http://schemas.openxmlformats.org/drawingml/2006/main" noGrp="1"/>
          </p:cNvSpPr>
          <p:nvPr/>
        </p:nvSpPr>
        <p:spPr>
          <a:xfrm xmlns:a="http://schemas.openxmlformats.org/drawingml/2006/main">
            <a:off x="8210550" y="3905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A7DE1"/>
                </a:solidFill>
                <a:latin typeface="Arial"/>
                <a:ea typeface="Arial"/>
                <a:cs typeface="Arial"/>
              </a:defRPr>
            </a:pPr>
            <a:r>
              <a:rPr sz="1500" b="1">
                <a:solidFill>
                  <a:srgbClr val="2A7DE1"/>
                </a:solidFill>
                <a:latin typeface="Arial"/>
                <a:ea typeface="Arial"/>
                <a:cs typeface="Arial"/>
              </a:rPr>
              <a:t>Optional retrieval</a:t>
            </a:r>
          </a:p>
        </p:txBody>
      </p:sp>
      <p:sp>
        <p:nvSpPr>
          <p:cNvPr id="22" name="">
            <a:extLst xmlns:a="http://schemas.openxmlformats.org/drawingml/2006/main">
              <a:ext uri="{FF2B5EF4-FFF2-40B4-BE49-F238E27FC236}">
                <a16:creationId xmlns:a16="http://schemas.microsoft.com/office/drawing/2014/main" id="{A80668AC-63F7-4972-8C13-785D374D1DD2}"/>
              </a:ext>
            </a:extLst>
          </p:cNvPr>
          <p:cNvSpPr>
            <a:spLocks xmlns:a="http://schemas.openxmlformats.org/drawingml/2006/main" noGrp="1"/>
          </p:cNvSpPr>
          <p:nvPr/>
        </p:nvSpPr>
        <p:spPr>
          <a:xfrm xmlns:a="http://schemas.openxmlformats.org/drawingml/2006/main">
            <a:off x="8210550" y="42672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Semantic RAG</a:t>
            </a:r>
          </a:p>
          <a:p xmlns:a="http://schemas.openxmlformats.org/drawingml/2006/main">
            <a:pPr algn="l">
              <a:defRPr sz="1350" b="1">
                <a:solidFill>
                  <a:srgbClr val="102238"/>
                </a:solidFill>
                <a:latin typeface="Arial"/>
                <a:ea typeface="Arial"/>
                <a:cs typeface="Arial"/>
              </a:defRPr>
            </a:pPr>
            <a:r>
              <a:rPr sz="1350" b="1">
                <a:solidFill>
                  <a:srgbClr val="102238"/>
                </a:solidFill>
                <a:latin typeface="Arial"/>
                <a:ea typeface="Arial"/>
                <a:cs typeface="Arial"/>
              </a:rPr>
              <a:t>keyword fallback</a:t>
            </a:r>
          </a:p>
        </p:txBody>
      </p:sp>
    </p:spTree>
    <p:extLst>
      <p:ext uri="{BB962C8B-B14F-4D97-AF65-F5344CB8AC3E}">
        <p14:creationId xmlns:p14="http://schemas.microsoft.com/office/powerpoint/2010/main" val="1462525224"/>
      </p:ext>
    </p:extLst>
  </p:cSld>
</p:sld>
</file>

<file path=ppt/slides/slide11.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52A72C9-4511-4379-9A2A-66D087315B06}"/>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A7DE1"/>
                </a:solidFill>
                <a:latin typeface="Arial"/>
                <a:ea typeface="Arial"/>
                <a:cs typeface="Arial"/>
              </a:defRPr>
            </a:pPr>
            <a:r>
              <a:rPr sz="1050" b="1">
                <a:solidFill>
                  <a:srgbClr val="2A7DE1"/>
                </a:solidFill>
                <a:latin typeface="Arial"/>
                <a:ea typeface="Arial"/>
                <a:cs typeface="Arial"/>
              </a:rPr>
              <a:t>A SHORT DEMO MAKES THE VALUE TANGIBLE</a:t>
            </a:r>
          </a:p>
        </p:txBody>
      </p:sp>
      <p:sp>
        <p:nvSpPr>
          <p:cNvPr id="2" name="">
            <a:extLst xmlns:a="http://schemas.openxmlformats.org/drawingml/2006/main">
              <a:ext uri="{FF2B5EF4-FFF2-40B4-BE49-F238E27FC236}">
                <a16:creationId xmlns:a16="http://schemas.microsoft.com/office/drawing/2014/main" id="{DC0B03CA-B4B7-4FB0-8A7A-9FD2DA1DB34E}"/>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982"/>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Upload a realistic document set, run the analysis, and inspect an evidence-backed result.</a:t>
            </a:r>
          </a:p>
        </p:txBody>
      </p:sp>
      <p:sp>
        <p:nvSpPr>
          <p:cNvPr id="3" name="">
            <a:extLst xmlns:a="http://schemas.openxmlformats.org/drawingml/2006/main">
              <a:ext uri="{FF2B5EF4-FFF2-40B4-BE49-F238E27FC236}">
                <a16:creationId xmlns:a16="http://schemas.microsoft.com/office/drawing/2014/main" id="{E0A0B8F2-12A5-4AB6-B700-7AF49A0DDB68}"/>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7CE4678A-3206-40A6-B986-D682CBAD836C}"/>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D86F09EF-AFE3-44A4-A7FD-8314E6FCB368}"/>
              </a:ext>
            </a:extLst>
          </p:cNvPr>
          <p:cNvSpPr>
            <a:spLocks xmlns:a="http://schemas.openxmlformats.org/drawingml/2006/main" noGrp="1"/>
          </p:cNvSpPr>
          <p:nvPr/>
        </p:nvSpPr>
        <p:spPr>
          <a:xfrm xmlns:a="http://schemas.openxmlformats.org/drawingml/2006/main">
            <a:off x="742950" y="19431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77C72"/>
                </a:solidFill>
                <a:latin typeface="Arial"/>
                <a:ea typeface="Arial"/>
                <a:cs typeface="Arial"/>
              </a:defRPr>
            </a:pPr>
            <a:r>
              <a:rPr sz="1350" b="1">
                <a:solidFill>
                  <a:srgbClr val="F77C72"/>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6BCCED0-7100-4FA1-A21E-ACD91CDB81BC}"/>
              </a:ext>
            </a:extLst>
          </p:cNvPr>
          <p:cNvSpPr>
            <a:spLocks xmlns:a="http://schemas.openxmlformats.org/drawingml/2006/main" noGrp="1"/>
          </p:cNvSpPr>
          <p:nvPr/>
        </p:nvSpPr>
        <p:spPr>
          <a:xfrm xmlns:a="http://schemas.openxmlformats.org/drawingml/2006/main">
            <a:off x="1476375" y="194310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Open demo account</a:t>
            </a:r>
          </a:p>
        </p:txBody>
      </p:sp>
      <p:sp>
        <p:nvSpPr>
          <p:cNvPr id="7" name="">
            <a:extLst xmlns:a="http://schemas.openxmlformats.org/drawingml/2006/main">
              <a:ext uri="{FF2B5EF4-FFF2-40B4-BE49-F238E27FC236}">
                <a16:creationId xmlns:a16="http://schemas.microsoft.com/office/drawing/2014/main" id="{6CF909CC-3571-48CA-AAB9-A4D203BA686A}"/>
              </a:ext>
            </a:extLst>
          </p:cNvPr>
          <p:cNvSpPr>
            <a:spLocks xmlns:a="http://schemas.openxmlformats.org/drawingml/2006/main" noGrp="1"/>
          </p:cNvSpPr>
          <p:nvPr/>
        </p:nvSpPr>
        <p:spPr>
          <a:xfrm xmlns:a="http://schemas.openxmlformats.org/drawingml/2006/main">
            <a:off x="4210050" y="194310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Use the seeded demo credentials.</a:t>
            </a:r>
          </a:p>
        </p:txBody>
      </p:sp>
      <p:sp>
        <p:nvSpPr>
          <p:cNvPr id="8" name="">
            <a:extLst xmlns:a="http://schemas.openxmlformats.org/drawingml/2006/main">
              <a:ext uri="{FF2B5EF4-FFF2-40B4-BE49-F238E27FC236}">
                <a16:creationId xmlns:a16="http://schemas.microsoft.com/office/drawing/2014/main" id="{88706250-226D-439B-9BA8-3B5DD057DA32}"/>
              </a:ext>
            </a:extLst>
          </p:cNvPr>
          <p:cNvSpPr>
            <a:spLocks xmlns:a="http://schemas.openxmlformats.org/drawingml/2006/main" noGrp="1"/>
          </p:cNvSpPr>
          <p:nvPr/>
        </p:nvSpPr>
        <p:spPr>
          <a:xfrm xmlns:a="http://schemas.openxmlformats.org/drawingml/2006/main">
            <a:off x="742950" y="2457450"/>
            <a:ext cx="9096375"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9" name="">
            <a:extLst xmlns:a="http://schemas.openxmlformats.org/drawingml/2006/main">
              <a:ext uri="{FF2B5EF4-FFF2-40B4-BE49-F238E27FC236}">
                <a16:creationId xmlns:a16="http://schemas.microsoft.com/office/drawing/2014/main" id="{9A77C1D8-81D4-4388-B53C-B5353F91749C}"/>
              </a:ext>
            </a:extLst>
          </p:cNvPr>
          <p:cNvSpPr>
            <a:spLocks xmlns:a="http://schemas.openxmlformats.org/drawingml/2006/main" noGrp="1"/>
          </p:cNvSpPr>
          <p:nvPr/>
        </p:nvSpPr>
        <p:spPr>
          <a:xfrm xmlns:a="http://schemas.openxmlformats.org/drawingml/2006/main">
            <a:off x="742950" y="27622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77C72"/>
                </a:solidFill>
                <a:latin typeface="Arial"/>
                <a:ea typeface="Arial"/>
                <a:cs typeface="Arial"/>
              </a:defRPr>
            </a:pPr>
            <a:r>
              <a:rPr sz="1350" b="1">
                <a:solidFill>
                  <a:srgbClr val="F77C7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6E663E9-88CE-48B5-9F3A-2D9D7873C3D0}"/>
              </a:ext>
            </a:extLst>
          </p:cNvPr>
          <p:cNvSpPr>
            <a:spLocks xmlns:a="http://schemas.openxmlformats.org/drawingml/2006/main" noGrp="1"/>
          </p:cNvSpPr>
          <p:nvPr/>
        </p:nvSpPr>
        <p:spPr>
          <a:xfrm xmlns:a="http://schemas.openxmlformats.org/drawingml/2006/main">
            <a:off x="1476375" y="27622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Upload a set</a:t>
            </a:r>
          </a:p>
        </p:txBody>
      </p:sp>
      <p:sp>
        <p:nvSpPr>
          <p:cNvPr id="11" name="">
            <a:extLst xmlns:a="http://schemas.openxmlformats.org/drawingml/2006/main">
              <a:ext uri="{FF2B5EF4-FFF2-40B4-BE49-F238E27FC236}">
                <a16:creationId xmlns:a16="http://schemas.microsoft.com/office/drawing/2014/main" id="{DED721F0-FD99-4DB6-9500-CEC025743A38}"/>
              </a:ext>
            </a:extLst>
          </p:cNvPr>
          <p:cNvSpPr>
            <a:spLocks xmlns:a="http://schemas.openxmlformats.org/drawingml/2006/main" noGrp="1"/>
          </p:cNvSpPr>
          <p:nvPr/>
        </p:nvSpPr>
        <p:spPr>
          <a:xfrm xmlns:a="http://schemas.openxmlformats.org/drawingml/2006/main">
            <a:off x="4210050" y="276225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Bank statement + P&amp;L + invoice ledger.</a:t>
            </a:r>
          </a:p>
        </p:txBody>
      </p:sp>
      <p:sp>
        <p:nvSpPr>
          <p:cNvPr id="12" name="">
            <a:extLst xmlns:a="http://schemas.openxmlformats.org/drawingml/2006/main">
              <a:ext uri="{FF2B5EF4-FFF2-40B4-BE49-F238E27FC236}">
                <a16:creationId xmlns:a16="http://schemas.microsoft.com/office/drawing/2014/main" id="{9CCE4572-CE19-4939-816B-C9986DB686D4}"/>
              </a:ext>
            </a:extLst>
          </p:cNvPr>
          <p:cNvSpPr>
            <a:spLocks xmlns:a="http://schemas.openxmlformats.org/drawingml/2006/main" noGrp="1"/>
          </p:cNvSpPr>
          <p:nvPr/>
        </p:nvSpPr>
        <p:spPr>
          <a:xfrm xmlns:a="http://schemas.openxmlformats.org/drawingml/2006/main">
            <a:off x="742950" y="3276600"/>
            <a:ext cx="9096375"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13" name="">
            <a:extLst xmlns:a="http://schemas.openxmlformats.org/drawingml/2006/main">
              <a:ext uri="{FF2B5EF4-FFF2-40B4-BE49-F238E27FC236}">
                <a16:creationId xmlns:a16="http://schemas.microsoft.com/office/drawing/2014/main" id="{B588B754-2962-4A12-940D-7A7C90B6AB81}"/>
              </a:ext>
            </a:extLst>
          </p:cNvPr>
          <p:cNvSpPr>
            <a:spLocks xmlns:a="http://schemas.openxmlformats.org/drawingml/2006/main" noGrp="1"/>
          </p:cNvSpPr>
          <p:nvPr/>
        </p:nvSpPr>
        <p:spPr>
          <a:xfrm xmlns:a="http://schemas.openxmlformats.org/drawingml/2006/main">
            <a:off x="742950" y="35814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77C72"/>
                </a:solidFill>
                <a:latin typeface="Arial"/>
                <a:ea typeface="Arial"/>
                <a:cs typeface="Arial"/>
              </a:defRPr>
            </a:pPr>
            <a:r>
              <a:rPr sz="1350" b="1">
                <a:solidFill>
                  <a:srgbClr val="F77C72"/>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42DD4D23-2888-4DEA-9A42-E40F95B63CC8}"/>
              </a:ext>
            </a:extLst>
          </p:cNvPr>
          <p:cNvSpPr>
            <a:spLocks xmlns:a="http://schemas.openxmlformats.org/drawingml/2006/main" noGrp="1"/>
          </p:cNvSpPr>
          <p:nvPr/>
        </p:nvSpPr>
        <p:spPr>
          <a:xfrm xmlns:a="http://schemas.openxmlformats.org/drawingml/2006/main">
            <a:off x="1476375" y="358140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Analyze</a:t>
            </a:r>
          </a:p>
        </p:txBody>
      </p:sp>
      <p:sp>
        <p:nvSpPr>
          <p:cNvPr id="15" name="">
            <a:extLst xmlns:a="http://schemas.openxmlformats.org/drawingml/2006/main">
              <a:ext uri="{FF2B5EF4-FFF2-40B4-BE49-F238E27FC236}">
                <a16:creationId xmlns:a16="http://schemas.microsoft.com/office/drawing/2014/main" id="{F26B0A14-F282-4B3F-83FC-631F584230F2}"/>
              </a:ext>
            </a:extLst>
          </p:cNvPr>
          <p:cNvSpPr>
            <a:spLocks xmlns:a="http://schemas.openxmlformats.org/drawingml/2006/main" noGrp="1"/>
          </p:cNvSpPr>
          <p:nvPr/>
        </p:nvSpPr>
        <p:spPr>
          <a:xfrm xmlns:a="http://schemas.openxmlformats.org/drawingml/2006/main">
            <a:off x="4210050" y="358140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Let the system parse and reason.</a:t>
            </a:r>
          </a:p>
        </p:txBody>
      </p:sp>
      <p:sp>
        <p:nvSpPr>
          <p:cNvPr id="16" name="">
            <a:extLst xmlns:a="http://schemas.openxmlformats.org/drawingml/2006/main">
              <a:ext uri="{FF2B5EF4-FFF2-40B4-BE49-F238E27FC236}">
                <a16:creationId xmlns:a16="http://schemas.microsoft.com/office/drawing/2014/main" id="{16736706-37CB-4C81-B979-7BBD533DB1BF}"/>
              </a:ext>
            </a:extLst>
          </p:cNvPr>
          <p:cNvSpPr>
            <a:spLocks xmlns:a="http://schemas.openxmlformats.org/drawingml/2006/main" noGrp="1"/>
          </p:cNvSpPr>
          <p:nvPr/>
        </p:nvSpPr>
        <p:spPr>
          <a:xfrm xmlns:a="http://schemas.openxmlformats.org/drawingml/2006/main">
            <a:off x="742950" y="4095750"/>
            <a:ext cx="9096375"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17" name="">
            <a:extLst xmlns:a="http://schemas.openxmlformats.org/drawingml/2006/main">
              <a:ext uri="{FF2B5EF4-FFF2-40B4-BE49-F238E27FC236}">
                <a16:creationId xmlns:a16="http://schemas.microsoft.com/office/drawing/2014/main" id="{6E14F8B9-820D-46AD-8877-436A311B1581}"/>
              </a:ext>
            </a:extLst>
          </p:cNvPr>
          <p:cNvSpPr>
            <a:spLocks xmlns:a="http://schemas.openxmlformats.org/drawingml/2006/main" noGrp="1"/>
          </p:cNvSpPr>
          <p:nvPr/>
        </p:nvSpPr>
        <p:spPr>
          <a:xfrm xmlns:a="http://schemas.openxmlformats.org/drawingml/2006/main">
            <a:off x="742950" y="44005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77C72"/>
                </a:solidFill>
                <a:latin typeface="Arial"/>
                <a:ea typeface="Arial"/>
                <a:cs typeface="Arial"/>
              </a:defRPr>
            </a:pPr>
            <a:r>
              <a:rPr sz="1350" b="1">
                <a:solidFill>
                  <a:srgbClr val="F77C72"/>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1F12F3E8-9738-4955-826B-CD496725854A}"/>
              </a:ext>
            </a:extLst>
          </p:cNvPr>
          <p:cNvSpPr>
            <a:spLocks xmlns:a="http://schemas.openxmlformats.org/drawingml/2006/main" noGrp="1"/>
          </p:cNvSpPr>
          <p:nvPr/>
        </p:nvSpPr>
        <p:spPr>
          <a:xfrm xmlns:a="http://schemas.openxmlformats.org/drawingml/2006/main">
            <a:off x="1476375" y="44005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Inspect a finding</a:t>
            </a:r>
          </a:p>
        </p:txBody>
      </p:sp>
      <p:sp>
        <p:nvSpPr>
          <p:cNvPr id="19" name="">
            <a:extLst xmlns:a="http://schemas.openxmlformats.org/drawingml/2006/main">
              <a:ext uri="{FF2B5EF4-FFF2-40B4-BE49-F238E27FC236}">
                <a16:creationId xmlns:a16="http://schemas.microsoft.com/office/drawing/2014/main" id="{F3122805-FDDF-4C6A-B35D-2FD40789F476}"/>
              </a:ext>
            </a:extLst>
          </p:cNvPr>
          <p:cNvSpPr>
            <a:spLocks xmlns:a="http://schemas.openxmlformats.org/drawingml/2006/main" noGrp="1"/>
          </p:cNvSpPr>
          <p:nvPr/>
        </p:nvSpPr>
        <p:spPr>
          <a:xfrm xmlns:a="http://schemas.openxmlformats.org/drawingml/2006/main">
            <a:off x="4210050" y="440055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7087"/>
                </a:solidFill>
                <a:latin typeface="Arial"/>
                <a:ea typeface="Arial"/>
                <a:cs typeface="Arial"/>
              </a:defRPr>
            </a:pPr>
            <a:r>
              <a:rPr sz="1350" b="0">
                <a:solidFill>
                  <a:srgbClr val="5D7087"/>
                </a:solidFill>
                <a:latin typeface="Arial"/>
                <a:ea typeface="Arial"/>
                <a:cs typeface="Arial"/>
              </a:rPr>
              <a:t>Show the source citation and a meaningful gap.</a:t>
            </a:r>
          </a:p>
        </p:txBody>
      </p:sp>
      <p:sp>
        <p:nvSpPr>
          <p:cNvPr id="20" name="">
            <a:extLst xmlns:a="http://schemas.openxmlformats.org/drawingml/2006/main">
              <a:ext uri="{FF2B5EF4-FFF2-40B4-BE49-F238E27FC236}">
                <a16:creationId xmlns:a16="http://schemas.microsoft.com/office/drawing/2014/main" id="{89F0332B-3DBE-40AE-B70E-2A4A75C2A2BD}"/>
              </a:ext>
            </a:extLst>
          </p:cNvPr>
          <p:cNvSpPr>
            <a:spLocks xmlns:a="http://schemas.openxmlformats.org/drawingml/2006/main" noGrp="1"/>
          </p:cNvSpPr>
          <p:nvPr/>
        </p:nvSpPr>
        <p:spPr>
          <a:xfrm xmlns:a="http://schemas.openxmlformats.org/drawingml/2006/main">
            <a:off x="742950" y="4914900"/>
            <a:ext cx="9096375"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21" name="">
            <a:extLst xmlns:a="http://schemas.openxmlformats.org/drawingml/2006/main">
              <a:ext uri="{FF2B5EF4-FFF2-40B4-BE49-F238E27FC236}">
                <a16:creationId xmlns:a16="http://schemas.microsoft.com/office/drawing/2014/main" id="{4A409A0C-E807-459A-AA29-14131DE5FC40}"/>
              </a:ext>
            </a:extLst>
          </p:cNvPr>
          <p:cNvSpPr>
            <a:spLocks xmlns:a="http://schemas.openxmlformats.org/drawingml/2006/main" noGrp="1"/>
          </p:cNvSpPr>
          <p:nvPr/>
        </p:nvSpPr>
        <p:spPr>
          <a:xfrm xmlns:a="http://schemas.openxmlformats.org/drawingml/2006/main">
            <a:off x="9829800" y="1943100"/>
            <a:ext cx="1428750" cy="3124200"/>
          </a:xfrm>
          <a:prstGeom xmlns:a="http://schemas.openxmlformats.org/drawingml/2006/main" prst="roundRect">
            <a:avLst>
              <a:gd name="adj" fmla="val 8000"/>
            </a:avLst>
          </a:prstGeom>
          <a:solidFill xmlns:a="http://schemas.openxmlformats.org/drawingml/2006/main">
            <a:srgbClr val="0B1A2C"/>
          </a:solidFill>
          <a:ln xmlns:a="http://schemas.openxmlformats.org/drawingml/2006/main" w="9525">
            <a:solidFill>
              <a:srgbClr val="C7D5E4"/>
            </a:solidFill>
            <a:prstDash val="solid"/>
          </a:ln>
        </p:spPr>
      </p:sp>
      <p:sp>
        <p:nvSpPr>
          <p:cNvPr id="22" name="">
            <a:extLst xmlns:a="http://schemas.openxmlformats.org/drawingml/2006/main">
              <a:ext uri="{FF2B5EF4-FFF2-40B4-BE49-F238E27FC236}">
                <a16:creationId xmlns:a16="http://schemas.microsoft.com/office/drawing/2014/main" id="{5B5D4C7A-9D96-4F78-ABEA-B783D1B8B4F5}"/>
              </a:ext>
            </a:extLst>
          </p:cNvPr>
          <p:cNvSpPr>
            <a:spLocks xmlns:a="http://schemas.openxmlformats.org/drawingml/2006/main" noGrp="1"/>
          </p:cNvSpPr>
          <p:nvPr/>
        </p:nvSpPr>
        <p:spPr>
          <a:xfrm xmlns:a="http://schemas.openxmlformats.org/drawingml/2006/main">
            <a:off x="10058400" y="2238375"/>
            <a:ext cx="876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486"/>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Demo</a:t>
            </a:r>
          </a:p>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focus</a:t>
            </a:r>
          </a:p>
        </p:txBody>
      </p:sp>
      <p:sp>
        <p:nvSpPr>
          <p:cNvPr id="23" name="">
            <a:extLst xmlns:a="http://schemas.openxmlformats.org/drawingml/2006/main">
              <a:ext uri="{FF2B5EF4-FFF2-40B4-BE49-F238E27FC236}">
                <a16:creationId xmlns:a16="http://schemas.microsoft.com/office/drawing/2014/main" id="{2C0EAA52-E45B-4FE5-B43A-A89C5B919F6D}"/>
              </a:ext>
            </a:extLst>
          </p:cNvPr>
          <p:cNvSpPr>
            <a:spLocks xmlns:a="http://schemas.openxmlformats.org/drawingml/2006/main" noGrp="1"/>
          </p:cNvSpPr>
          <p:nvPr/>
        </p:nvSpPr>
        <p:spPr>
          <a:xfrm xmlns:a="http://schemas.openxmlformats.org/drawingml/2006/main">
            <a:off x="10058400" y="3238500"/>
            <a:ext cx="8858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07"/>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Evidence</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not</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assumptions</a:t>
            </a:r>
          </a:p>
        </p:txBody>
      </p:sp>
    </p:spTree>
    <p:extLst>
      <p:ext uri="{BB962C8B-B14F-4D97-AF65-F5344CB8AC3E}">
        <p14:creationId xmlns:p14="http://schemas.microsoft.com/office/powerpoint/2010/main" val="5741527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463A655-1347-4672-80B5-7D8295921A7E}"/>
              </a:ext>
            </a:extLst>
          </p:cNvPr>
          <p:cNvSpPr>
            <a:spLocks xmlns:a="http://schemas.openxmlformats.org/drawingml/2006/main" noGrp="1"/>
          </p:cNvSpPr>
          <p:nvPr/>
        </p:nvSpPr>
        <p:spPr>
          <a:xfrm xmlns:a="http://schemas.openxmlformats.org/drawingml/2006/main">
            <a:off x="59055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6BFA5"/>
                </a:solidFill>
                <a:latin typeface="Arial"/>
                <a:ea typeface="Arial"/>
                <a:cs typeface="Arial"/>
              </a:defRPr>
            </a:pPr>
            <a:r>
              <a:rPr sz="1050" b="1">
                <a:solidFill>
                  <a:srgbClr val="36BFA5"/>
                </a:solidFill>
                <a:latin typeface="Arial"/>
                <a:ea typeface="Arial"/>
                <a:cs typeface="Arial"/>
              </a:rPr>
              <a:t>OUR FOUR-PERSON PRESENTATION FLOW</a:t>
            </a:r>
          </a:p>
        </p:txBody>
      </p:sp>
      <p:sp>
        <p:nvSpPr>
          <p:cNvPr id="2" name="">
            <a:extLst xmlns:a="http://schemas.openxmlformats.org/drawingml/2006/main">
              <a:ext uri="{FF2B5EF4-FFF2-40B4-BE49-F238E27FC236}">
                <a16:creationId xmlns:a16="http://schemas.microsoft.com/office/drawing/2014/main" id="{5D3C0EC4-5144-4F21-8BDF-4FC966C09CA1}"/>
              </a:ext>
            </a:extLst>
          </p:cNvPr>
          <p:cNvSpPr>
            <a:spLocks xmlns:a="http://schemas.openxmlformats.org/drawingml/2006/main" noGrp="1"/>
          </p:cNvSpPr>
          <p:nvPr/>
        </p:nvSpPr>
        <p:spPr>
          <a:xfrm xmlns:a="http://schemas.openxmlformats.org/drawingml/2006/main">
            <a:off x="590550" y="7239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346"/>
          </a:bodyPr>
          <a:lstStyle xmlns:a="http://schemas.openxmlformats.org/drawingml/2006/main"/>
          <a:p xmlns:a="http://schemas.openxmlformats.org/drawingml/2006/main">
            <a:pPr algn="l">
              <a:defRPr sz="2850" b="1">
                <a:solidFill>
                  <a:srgbClr val="102238"/>
                </a:solidFill>
                <a:latin typeface="Arial"/>
                <a:ea typeface="Arial"/>
                <a:cs typeface="Arial"/>
              </a:defRPr>
            </a:pPr>
            <a:r>
              <a:rPr sz="2850" b="1">
                <a:solidFill>
                  <a:srgbClr val="102238"/>
                </a:solidFill>
                <a:latin typeface="Arial"/>
                <a:ea typeface="Arial"/>
                <a:cs typeface="Arial"/>
              </a:rPr>
              <a:t>Each presenter owns a complete part of the story, with a clean handoff to the next.</a:t>
            </a:r>
          </a:p>
        </p:txBody>
      </p:sp>
      <p:sp>
        <p:nvSpPr>
          <p:cNvPr id="3" name="">
            <a:extLst xmlns:a="http://schemas.openxmlformats.org/drawingml/2006/main">
              <a:ext uri="{FF2B5EF4-FFF2-40B4-BE49-F238E27FC236}">
                <a16:creationId xmlns:a16="http://schemas.microsoft.com/office/drawing/2014/main" id="{630B5E49-AFB3-4C4D-8CD3-0C5471B1124E}"/>
              </a:ext>
            </a:extLst>
          </p:cNvPr>
          <p:cNvSpPr>
            <a:spLocks xmlns:a="http://schemas.openxmlformats.org/drawingml/2006/main" noGrp="1"/>
          </p:cNvSpPr>
          <p:nvPr/>
        </p:nvSpPr>
        <p:spPr>
          <a:xfrm xmlns:a="http://schemas.openxmlformats.org/drawingml/2006/main">
            <a:off x="590550" y="1447800"/>
            <a:ext cx="11010900" cy="19050"/>
          </a:xfrm>
          <a:prstGeom xmlns:a="http://schemas.openxmlformats.org/drawingml/2006/main" prst="rect">
            <a:avLst/>
          </a:prstGeom>
          <a:solidFill xmlns:a="http://schemas.openxmlformats.org/drawingml/2006/main">
            <a:srgbClr val="C7D5E4"/>
          </a:solidFill>
          <a:ln xmlns:a="http://schemas.openxmlformats.org/drawingml/2006/main" w="0">
            <a:solidFill>
              <a:srgbClr val="C7D5E4"/>
            </a:solidFill>
            <a:prstDash val="solid"/>
          </a:ln>
        </p:spPr>
      </p:sp>
      <p:sp>
        <p:nvSpPr>
          <p:cNvPr id="4" name="">
            <a:extLst xmlns:a="http://schemas.openxmlformats.org/drawingml/2006/main">
              <a:ext uri="{FF2B5EF4-FFF2-40B4-BE49-F238E27FC236}">
                <a16:creationId xmlns:a16="http://schemas.microsoft.com/office/drawing/2014/main" id="{EDE08682-49CD-41B6-9768-2829CFAB9AA5}"/>
              </a:ext>
            </a:extLst>
          </p:cNvPr>
          <p:cNvSpPr>
            <a:spLocks xmlns:a="http://schemas.openxmlformats.org/drawingml/2006/main" noGrp="1"/>
          </p:cNvSpPr>
          <p:nvPr/>
        </p:nvSpPr>
        <p:spPr>
          <a:xfrm xmlns:a="http://schemas.openxmlformats.org/drawingml/2006/main">
            <a:off x="11087100" y="624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D7087"/>
                </a:solidFill>
                <a:latin typeface="Arial"/>
                <a:ea typeface="Arial"/>
                <a:cs typeface="Arial"/>
              </a:defRPr>
            </a:pPr>
            <a:r>
              <a:rPr sz="975" b="1">
                <a:solidFill>
                  <a:srgbClr val="5D708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167219A4-D6FE-456E-8B73-9308DA78FA2B}"/>
              </a:ext>
            </a:extLst>
          </p:cNvPr>
          <p:cNvSpPr>
            <a:spLocks xmlns:a="http://schemas.openxmlformats.org/drawingml/2006/main" noGrp="1"/>
          </p:cNvSpPr>
          <p:nvPr/>
        </p:nvSpPr>
        <p:spPr>
          <a:xfrm xmlns:a="http://schemas.openxmlformats.org/drawingml/2006/main">
            <a:off x="571500" y="2238375"/>
            <a:ext cx="2457450" cy="2209800"/>
          </a:xfrm>
          <a:prstGeom xmlns:a="http://schemas.openxmlformats.org/drawingml/2006/main" prst="roundRect">
            <a:avLst>
              <a:gd name="adj" fmla="val 5172"/>
            </a:avLst>
          </a:prstGeom>
          <a:solidFill xmlns:a="http://schemas.openxmlformats.org/drawingml/2006/main">
            <a:srgbClr val="EAF2FA"/>
          </a:solidFill>
          <a:ln xmlns:a="http://schemas.openxmlformats.org/drawingml/2006/main" w="9525">
            <a:solidFill>
              <a:srgbClr val="C7D5E4"/>
            </a:solidFill>
            <a:prstDash val="solid"/>
          </a:ln>
        </p:spPr>
      </p:sp>
      <p:sp>
        <p:nvSpPr>
          <p:cNvPr id="6" name="">
            <a:extLst xmlns:a="http://schemas.openxmlformats.org/drawingml/2006/main">
              <a:ext uri="{FF2B5EF4-FFF2-40B4-BE49-F238E27FC236}">
                <a16:creationId xmlns:a16="http://schemas.microsoft.com/office/drawing/2014/main" id="{6C65ED0E-1BD8-4EC5-9EC0-CE45E3875340}"/>
              </a:ext>
            </a:extLst>
          </p:cNvPr>
          <p:cNvSpPr>
            <a:spLocks xmlns:a="http://schemas.openxmlformats.org/drawingml/2006/main" noGrp="1"/>
          </p:cNvSpPr>
          <p:nvPr/>
        </p:nvSpPr>
        <p:spPr>
          <a:xfrm xmlns:a="http://schemas.openxmlformats.org/drawingml/2006/main">
            <a:off x="781050" y="25431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6BFA5"/>
                </a:solidFill>
                <a:latin typeface="Arial"/>
                <a:ea typeface="Arial"/>
                <a:cs typeface="Arial"/>
              </a:defRPr>
            </a:pPr>
            <a:r>
              <a:rPr sz="1650" b="1">
                <a:solidFill>
                  <a:srgbClr val="36BFA5"/>
                </a:solidFill>
                <a:latin typeface="Arial"/>
                <a:ea typeface="Arial"/>
                <a:cs typeface="Arial"/>
              </a:rPr>
              <a:t>Presenter 1</a:t>
            </a:r>
          </a:p>
        </p:txBody>
      </p:sp>
      <p:sp>
        <p:nvSpPr>
          <p:cNvPr id="7" name="">
            <a:extLst xmlns:a="http://schemas.openxmlformats.org/drawingml/2006/main">
              <a:ext uri="{FF2B5EF4-FFF2-40B4-BE49-F238E27FC236}">
                <a16:creationId xmlns:a16="http://schemas.microsoft.com/office/drawing/2014/main" id="{D7109910-360D-4BCC-A121-32DA7A7DC350}"/>
              </a:ext>
            </a:extLst>
          </p:cNvPr>
          <p:cNvSpPr>
            <a:spLocks xmlns:a="http://schemas.openxmlformats.org/drawingml/2006/main" noGrp="1"/>
          </p:cNvSpPr>
          <p:nvPr/>
        </p:nvSpPr>
        <p:spPr>
          <a:xfrm xmlns:a="http://schemas.openxmlformats.org/drawingml/2006/main">
            <a:off x="781050" y="3190875"/>
            <a:ext cx="1952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Why now</a:t>
            </a:r>
          </a:p>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Problem + solution</a:t>
            </a:r>
          </a:p>
        </p:txBody>
      </p:sp>
      <p:sp>
        <p:nvSpPr>
          <p:cNvPr id="8" name="">
            <a:extLst xmlns:a="http://schemas.openxmlformats.org/drawingml/2006/main">
              <a:ext uri="{FF2B5EF4-FFF2-40B4-BE49-F238E27FC236}">
                <a16:creationId xmlns:a16="http://schemas.microsoft.com/office/drawing/2014/main" id="{1829CB03-BB96-4041-B862-8718030F7C01}"/>
              </a:ext>
            </a:extLst>
          </p:cNvPr>
          <p:cNvSpPr>
            <a:spLocks xmlns:a="http://schemas.openxmlformats.org/drawingml/2006/main" noGrp="1"/>
          </p:cNvSpPr>
          <p:nvPr/>
        </p:nvSpPr>
        <p:spPr>
          <a:xfrm xmlns:a="http://schemas.openxmlformats.org/drawingml/2006/main">
            <a:off x="3390900" y="2238375"/>
            <a:ext cx="2457450" cy="2209800"/>
          </a:xfrm>
          <a:prstGeom xmlns:a="http://schemas.openxmlformats.org/drawingml/2006/main" prst="roundRect">
            <a:avLst>
              <a:gd name="adj" fmla="val 5172"/>
            </a:avLst>
          </a:prstGeom>
          <a:solidFill xmlns:a="http://schemas.openxmlformats.org/drawingml/2006/main">
            <a:srgbClr val="EAF2FA"/>
          </a:solidFill>
          <a:ln xmlns:a="http://schemas.openxmlformats.org/drawingml/2006/main" w="9525">
            <a:solidFill>
              <a:srgbClr val="C7D5E4"/>
            </a:solidFill>
            <a:prstDash val="solid"/>
          </a:ln>
        </p:spPr>
      </p:sp>
      <p:sp>
        <p:nvSpPr>
          <p:cNvPr id="9" name="">
            <a:extLst xmlns:a="http://schemas.openxmlformats.org/drawingml/2006/main">
              <a:ext uri="{FF2B5EF4-FFF2-40B4-BE49-F238E27FC236}">
                <a16:creationId xmlns:a16="http://schemas.microsoft.com/office/drawing/2014/main" id="{65A03A31-18CE-4EB2-BD5B-58844B07C60A}"/>
              </a:ext>
            </a:extLst>
          </p:cNvPr>
          <p:cNvSpPr>
            <a:spLocks xmlns:a="http://schemas.openxmlformats.org/drawingml/2006/main" noGrp="1"/>
          </p:cNvSpPr>
          <p:nvPr/>
        </p:nvSpPr>
        <p:spPr>
          <a:xfrm xmlns:a="http://schemas.openxmlformats.org/drawingml/2006/main">
            <a:off x="3600450" y="25431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6BFA5"/>
                </a:solidFill>
                <a:latin typeface="Arial"/>
                <a:ea typeface="Arial"/>
                <a:cs typeface="Arial"/>
              </a:defRPr>
            </a:pPr>
            <a:r>
              <a:rPr sz="1650" b="1">
                <a:solidFill>
                  <a:srgbClr val="36BFA5"/>
                </a:solidFill>
                <a:latin typeface="Arial"/>
                <a:ea typeface="Arial"/>
                <a:cs typeface="Arial"/>
              </a:rPr>
              <a:t>Presenter 2</a:t>
            </a:r>
          </a:p>
        </p:txBody>
      </p:sp>
      <p:sp>
        <p:nvSpPr>
          <p:cNvPr id="10" name="">
            <a:extLst xmlns:a="http://schemas.openxmlformats.org/drawingml/2006/main">
              <a:ext uri="{FF2B5EF4-FFF2-40B4-BE49-F238E27FC236}">
                <a16:creationId xmlns:a16="http://schemas.microsoft.com/office/drawing/2014/main" id="{0B2AB48C-FD25-48B6-97B4-073B6E17EA2C}"/>
              </a:ext>
            </a:extLst>
          </p:cNvPr>
          <p:cNvSpPr>
            <a:spLocks xmlns:a="http://schemas.openxmlformats.org/drawingml/2006/main" noGrp="1"/>
          </p:cNvSpPr>
          <p:nvPr/>
        </p:nvSpPr>
        <p:spPr>
          <a:xfrm xmlns:a="http://schemas.openxmlformats.org/drawingml/2006/main">
            <a:off x="3600450" y="3190875"/>
            <a:ext cx="1952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50"/>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How it works</a:t>
            </a:r>
          </a:p>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Journey + architecture + ingestion</a:t>
            </a:r>
          </a:p>
        </p:txBody>
      </p:sp>
      <p:sp>
        <p:nvSpPr>
          <p:cNvPr id="11" name="">
            <a:extLst xmlns:a="http://schemas.openxmlformats.org/drawingml/2006/main">
              <a:ext uri="{FF2B5EF4-FFF2-40B4-BE49-F238E27FC236}">
                <a16:creationId xmlns:a16="http://schemas.microsoft.com/office/drawing/2014/main" id="{A41C1684-0509-4F53-94F6-07A020FE29BF}"/>
              </a:ext>
            </a:extLst>
          </p:cNvPr>
          <p:cNvSpPr>
            <a:spLocks xmlns:a="http://schemas.openxmlformats.org/drawingml/2006/main" noGrp="1"/>
          </p:cNvSpPr>
          <p:nvPr/>
        </p:nvSpPr>
        <p:spPr>
          <a:xfrm xmlns:a="http://schemas.openxmlformats.org/drawingml/2006/main">
            <a:off x="6210300" y="2238375"/>
            <a:ext cx="2457450" cy="2209800"/>
          </a:xfrm>
          <a:prstGeom xmlns:a="http://schemas.openxmlformats.org/drawingml/2006/main" prst="roundRect">
            <a:avLst>
              <a:gd name="adj" fmla="val 5172"/>
            </a:avLst>
          </a:prstGeom>
          <a:solidFill xmlns:a="http://schemas.openxmlformats.org/drawingml/2006/main">
            <a:srgbClr val="EAF2FA"/>
          </a:solidFill>
          <a:ln xmlns:a="http://schemas.openxmlformats.org/drawingml/2006/main" w="9525">
            <a:solidFill>
              <a:srgbClr val="C7D5E4"/>
            </a:solidFill>
            <a:prstDash val="solid"/>
          </a:ln>
        </p:spPr>
      </p:sp>
      <p:sp>
        <p:nvSpPr>
          <p:cNvPr id="12" name="">
            <a:extLst xmlns:a="http://schemas.openxmlformats.org/drawingml/2006/main">
              <a:ext uri="{FF2B5EF4-FFF2-40B4-BE49-F238E27FC236}">
                <a16:creationId xmlns:a16="http://schemas.microsoft.com/office/drawing/2014/main" id="{26308815-928B-4416-95FB-403713B4E07D}"/>
              </a:ext>
            </a:extLst>
          </p:cNvPr>
          <p:cNvSpPr>
            <a:spLocks xmlns:a="http://schemas.openxmlformats.org/drawingml/2006/main" noGrp="1"/>
          </p:cNvSpPr>
          <p:nvPr/>
        </p:nvSpPr>
        <p:spPr>
          <a:xfrm xmlns:a="http://schemas.openxmlformats.org/drawingml/2006/main">
            <a:off x="6419850" y="25431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6BFA5"/>
                </a:solidFill>
                <a:latin typeface="Arial"/>
                <a:ea typeface="Arial"/>
                <a:cs typeface="Arial"/>
              </a:defRPr>
            </a:pPr>
            <a:r>
              <a:rPr sz="1650" b="1">
                <a:solidFill>
                  <a:srgbClr val="36BFA5"/>
                </a:solidFill>
                <a:latin typeface="Arial"/>
                <a:ea typeface="Arial"/>
                <a:cs typeface="Arial"/>
              </a:rPr>
              <a:t>Presenter 3</a:t>
            </a:r>
          </a:p>
        </p:txBody>
      </p:sp>
      <p:sp>
        <p:nvSpPr>
          <p:cNvPr id="13" name="">
            <a:extLst xmlns:a="http://schemas.openxmlformats.org/drawingml/2006/main">
              <a:ext uri="{FF2B5EF4-FFF2-40B4-BE49-F238E27FC236}">
                <a16:creationId xmlns:a16="http://schemas.microsoft.com/office/drawing/2014/main" id="{7F63B8D0-1A0F-4996-A417-E0EDF5B8626C}"/>
              </a:ext>
            </a:extLst>
          </p:cNvPr>
          <p:cNvSpPr>
            <a:spLocks xmlns:a="http://schemas.openxmlformats.org/drawingml/2006/main" noGrp="1"/>
          </p:cNvSpPr>
          <p:nvPr/>
        </p:nvSpPr>
        <p:spPr>
          <a:xfrm xmlns:a="http://schemas.openxmlformats.org/drawingml/2006/main">
            <a:off x="6419850" y="3190875"/>
            <a:ext cx="1952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4"/>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Why trust it</a:t>
            </a:r>
          </a:p>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Grounded analysis + security + outputs</a:t>
            </a:r>
          </a:p>
        </p:txBody>
      </p:sp>
      <p:sp>
        <p:nvSpPr>
          <p:cNvPr id="14" name="">
            <a:extLst xmlns:a="http://schemas.openxmlformats.org/drawingml/2006/main">
              <a:ext uri="{FF2B5EF4-FFF2-40B4-BE49-F238E27FC236}">
                <a16:creationId xmlns:a16="http://schemas.microsoft.com/office/drawing/2014/main" id="{0EF11C0E-DE52-4172-A648-61DCED94BF38}"/>
              </a:ext>
            </a:extLst>
          </p:cNvPr>
          <p:cNvSpPr>
            <a:spLocks xmlns:a="http://schemas.openxmlformats.org/drawingml/2006/main" noGrp="1"/>
          </p:cNvSpPr>
          <p:nvPr/>
        </p:nvSpPr>
        <p:spPr>
          <a:xfrm xmlns:a="http://schemas.openxmlformats.org/drawingml/2006/main">
            <a:off x="9029700" y="2238375"/>
            <a:ext cx="2457450" cy="2209800"/>
          </a:xfrm>
          <a:prstGeom xmlns:a="http://schemas.openxmlformats.org/drawingml/2006/main" prst="roundRect">
            <a:avLst>
              <a:gd name="adj" fmla="val 5172"/>
            </a:avLst>
          </a:prstGeom>
          <a:solidFill xmlns:a="http://schemas.openxmlformats.org/drawingml/2006/main">
            <a:srgbClr val="EAF2FA"/>
          </a:solidFill>
          <a:ln xmlns:a="http://schemas.openxmlformats.org/drawingml/2006/main" w="9525">
            <a:solidFill>
              <a:srgbClr val="C7D5E4"/>
            </a:solidFill>
            <a:prstDash val="solid"/>
          </a:ln>
        </p:spPr>
      </p:sp>
      <p:sp>
        <p:nvSpPr>
          <p:cNvPr id="15" name="">
            <a:extLst xmlns:a="http://schemas.openxmlformats.org/drawingml/2006/main">
              <a:ext uri="{FF2B5EF4-FFF2-40B4-BE49-F238E27FC236}">
                <a16:creationId xmlns:a16="http://schemas.microsoft.com/office/drawing/2014/main" id="{233C3F84-A54D-4649-BDF3-E5C60A0816B4}"/>
              </a:ext>
            </a:extLst>
          </p:cNvPr>
          <p:cNvSpPr>
            <a:spLocks xmlns:a="http://schemas.openxmlformats.org/drawingml/2006/main" noGrp="1"/>
          </p:cNvSpPr>
          <p:nvPr/>
        </p:nvSpPr>
        <p:spPr>
          <a:xfrm xmlns:a="http://schemas.openxmlformats.org/drawingml/2006/main">
            <a:off x="9239250" y="25431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6BFA5"/>
                </a:solidFill>
                <a:latin typeface="Arial"/>
                <a:ea typeface="Arial"/>
                <a:cs typeface="Arial"/>
              </a:defRPr>
            </a:pPr>
            <a:r>
              <a:rPr sz="1650" b="1">
                <a:solidFill>
                  <a:srgbClr val="36BFA5"/>
                </a:solidFill>
                <a:latin typeface="Arial"/>
                <a:ea typeface="Arial"/>
                <a:cs typeface="Arial"/>
              </a:rPr>
              <a:t>Presenter 4</a:t>
            </a:r>
          </a:p>
        </p:txBody>
      </p:sp>
      <p:sp>
        <p:nvSpPr>
          <p:cNvPr id="16" name="">
            <a:extLst xmlns:a="http://schemas.openxmlformats.org/drawingml/2006/main">
              <a:ext uri="{FF2B5EF4-FFF2-40B4-BE49-F238E27FC236}">
                <a16:creationId xmlns:a16="http://schemas.microsoft.com/office/drawing/2014/main" id="{17607768-03DD-40D3-AF3C-A866EF7B7D7F}"/>
              </a:ext>
            </a:extLst>
          </p:cNvPr>
          <p:cNvSpPr>
            <a:spLocks xmlns:a="http://schemas.openxmlformats.org/drawingml/2006/main" noGrp="1"/>
          </p:cNvSpPr>
          <p:nvPr/>
        </p:nvSpPr>
        <p:spPr>
          <a:xfrm xmlns:a="http://schemas.openxmlformats.org/drawingml/2006/main">
            <a:off x="9239250" y="3190875"/>
            <a:ext cx="1952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4"/>
          </a:bodyPr>
          <a:lstStyle xmlns:a="http://schemas.openxmlformats.org/drawingml/2006/main"/>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How we show it</a:t>
            </a:r>
          </a:p>
          <a:p xmlns:a="http://schemas.openxmlformats.org/drawingml/2006/main">
            <a:pPr algn="l">
              <a:defRPr sz="1575" b="1">
                <a:solidFill>
                  <a:srgbClr val="102238"/>
                </a:solidFill>
                <a:latin typeface="Arial"/>
                <a:ea typeface="Arial"/>
                <a:cs typeface="Arial"/>
              </a:defRPr>
            </a:pPr>
            <a:r>
              <a:rPr sz="1575" b="1">
                <a:solidFill>
                  <a:srgbClr val="102238"/>
                </a:solidFill>
                <a:latin typeface="Arial"/>
                <a:ea typeface="Arial"/>
                <a:cs typeface="Arial"/>
              </a:rPr>
              <a:t>Stack + demo + next steps</a:t>
            </a:r>
          </a:p>
        </p:txBody>
      </p:sp>
      <p:sp>
        <p:nvSpPr>
          <p:cNvPr id="17" name="">
            <a:extLst xmlns:a="http://schemas.openxmlformats.org/drawingml/2006/main">
              <a:ext uri="{FF2B5EF4-FFF2-40B4-BE49-F238E27FC236}">
                <a16:creationId xmlns:a16="http://schemas.microsoft.com/office/drawing/2014/main" id="{EC5EEAA1-AE87-4BC2-8955-C461404C8E6D}"/>
              </a:ext>
            </a:extLst>
          </p:cNvPr>
          <p:cNvSpPr>
            <a:spLocks xmlns:a="http://schemas.openxmlformats.org/drawingml/2006/main" noGrp="1"/>
          </p:cNvSpPr>
          <p:nvPr/>
        </p:nvSpPr>
        <p:spPr>
          <a:xfrm xmlns:a="http://schemas.openxmlformats.org/drawingml/2006/main">
            <a:off x="571500" y="5200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7087"/>
                </a:solidFill>
                <a:latin typeface="Arial"/>
                <a:ea typeface="Arial"/>
                <a:cs typeface="Arial"/>
              </a:defRPr>
            </a:pPr>
            <a:r>
              <a:rPr sz="1500" b="0">
                <a:solidFill>
                  <a:srgbClr val="5D7087"/>
                </a:solidFill>
                <a:latin typeface="Arial"/>
                <a:ea typeface="Arial"/>
                <a:cs typeface="Arial"/>
              </a:rPr>
              <a:t>Suggested handoff: “With the need established, I’ll hand over to …”</a:t>
            </a:r>
          </a:p>
        </p:txBody>
      </p:sp>
    </p:spTree>
    <p:extLst>
      <p:ext uri="{BB962C8B-B14F-4D97-AF65-F5344CB8AC3E}">
        <p14:creationId xmlns:p14="http://schemas.microsoft.com/office/powerpoint/2010/main" val="1775810616"/>
      </p:ext>
    </p:extLst>
  </p:cSld>
</p:sld>
</file>

<file path=ppt/slides/slide13.xml><?xml version="1.0" encoding="utf-8"?>
<p:sld xmlns:p="http://schemas.openxmlformats.org/presentationml/2006/main">
  <p:cSld>
    <p:bg>
      <p:bgPr>
        <a:solidFill xmlns:a="http://schemas.openxmlformats.org/drawingml/2006/main">
          <a:srgbClr val="0B1A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FB8D9-3CE1-4C59-B124-1D47D715AE06}"/>
              </a:ext>
            </a:extLst>
          </p:cNvPr>
          <p:cNvSpPr>
            <a:spLocks xmlns:a="http://schemas.openxmlformats.org/drawingml/2006/main" noGrp="1"/>
          </p:cNvSpPr>
          <p:nvPr/>
        </p:nvSpPr>
        <p:spPr>
          <a:xfrm xmlns:a="http://schemas.openxmlformats.org/drawingml/2006/main">
            <a:off x="628650" y="571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6DCBF4"/>
                </a:solidFill>
                <a:latin typeface="Arial"/>
                <a:ea typeface="Arial"/>
                <a:cs typeface="Arial"/>
              </a:defRPr>
            </a:pPr>
            <a:r>
              <a:rPr sz="1275" b="1">
                <a:solidFill>
                  <a:srgbClr val="6DCBF4"/>
                </a:solidFill>
                <a:latin typeface="Arial"/>
                <a:ea typeface="Arial"/>
                <a:cs typeface="Arial"/>
              </a:rPr>
              <a:t>CLARAFIN</a:t>
            </a:r>
          </a:p>
        </p:txBody>
      </p:sp>
      <p:sp>
        <p:nvSpPr>
          <p:cNvPr id="2" name="">
            <a:extLst xmlns:a="http://schemas.openxmlformats.org/drawingml/2006/main">
              <a:ext uri="{FF2B5EF4-FFF2-40B4-BE49-F238E27FC236}">
                <a16:creationId xmlns:a16="http://schemas.microsoft.com/office/drawing/2014/main" id="{023463D7-DAA6-402B-826A-9970A5FB2577}"/>
              </a:ext>
            </a:extLst>
          </p:cNvPr>
          <p:cNvSpPr>
            <a:spLocks xmlns:a="http://schemas.openxmlformats.org/drawingml/2006/main" noGrp="1"/>
          </p:cNvSpPr>
          <p:nvPr/>
        </p:nvSpPr>
        <p:spPr>
          <a:xfrm xmlns:a="http://schemas.openxmlformats.org/drawingml/2006/main">
            <a:off x="628650" y="1724025"/>
            <a:ext cx="7810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Financial decisions should be</a:t>
            </a:r>
          </a:p>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clear, grounded, and traceable.</a:t>
            </a:r>
          </a:p>
        </p:txBody>
      </p:sp>
      <p:sp>
        <p:nvSpPr>
          <p:cNvPr id="3" name="">
            <a:extLst xmlns:a="http://schemas.openxmlformats.org/drawingml/2006/main">
              <a:ext uri="{FF2B5EF4-FFF2-40B4-BE49-F238E27FC236}">
                <a16:creationId xmlns:a16="http://schemas.microsoft.com/office/drawing/2014/main" id="{A1E926D8-5BD8-40FC-9D2A-32493FAA753A}"/>
              </a:ext>
            </a:extLst>
          </p:cNvPr>
          <p:cNvSpPr>
            <a:spLocks xmlns:a="http://schemas.openxmlformats.org/drawingml/2006/main" noGrp="1"/>
          </p:cNvSpPr>
          <p:nvPr/>
        </p:nvSpPr>
        <p:spPr>
          <a:xfrm xmlns:a="http://schemas.openxmlformats.org/drawingml/2006/main">
            <a:off x="666750" y="36004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D7E5F3"/>
                </a:solidFill>
                <a:latin typeface="Arial"/>
                <a:ea typeface="Arial"/>
                <a:cs typeface="Arial"/>
              </a:defRPr>
            </a:pPr>
            <a:r>
              <a:rPr sz="1800" b="0">
                <a:solidFill>
                  <a:srgbClr val="D7E5F3"/>
                </a:solidFill>
                <a:latin typeface="Arial"/>
                <a:ea typeface="Arial"/>
                <a:cs typeface="Arial"/>
              </a:rPr>
              <a:t>Next: demonstrate the workspace with a real document set.</a:t>
            </a:r>
          </a:p>
        </p:txBody>
      </p:sp>
      <p:sp>
        <p:nvSpPr>
          <p:cNvPr id="4" name="">
            <a:extLst xmlns:a="http://schemas.openxmlformats.org/drawingml/2006/main">
              <a:ext uri="{FF2B5EF4-FFF2-40B4-BE49-F238E27FC236}">
                <a16:creationId xmlns:a16="http://schemas.microsoft.com/office/drawing/2014/main" id="{18EA2723-3FE6-42CC-BEB1-D79088B31ABF}"/>
              </a:ext>
            </a:extLst>
          </p:cNvPr>
          <p:cNvSpPr>
            <a:spLocks xmlns:a="http://schemas.openxmlformats.org/drawingml/2006/main" noGrp="1"/>
          </p:cNvSpPr>
          <p:nvPr/>
        </p:nvSpPr>
        <p:spPr>
          <a:xfrm xmlns:a="http://schemas.openxmlformats.org/drawingml/2006/main">
            <a:off x="666750" y="4305300"/>
            <a:ext cx="9715500" cy="19050"/>
          </a:xfrm>
          <a:prstGeom xmlns:a="http://schemas.openxmlformats.org/drawingml/2006/main" prst="rect">
            <a:avLst/>
          </a:prstGeom>
          <a:solidFill xmlns:a="http://schemas.openxmlformats.org/drawingml/2006/main">
            <a:srgbClr val="F77C72"/>
          </a:solidFill>
          <a:ln xmlns:a="http://schemas.openxmlformats.org/drawingml/2006/main" w="0">
            <a:solidFill>
              <a:srgbClr val="F77C72"/>
            </a:solidFill>
            <a:prstDash val="solid"/>
          </a:ln>
        </p:spPr>
      </p:sp>
      <p:sp>
        <p:nvSpPr>
          <p:cNvPr id="5" name="">
            <a:extLst xmlns:a="http://schemas.openxmlformats.org/drawingml/2006/main">
              <a:ext uri="{FF2B5EF4-FFF2-40B4-BE49-F238E27FC236}">
                <a16:creationId xmlns:a16="http://schemas.microsoft.com/office/drawing/2014/main" id="{0B858526-4853-41FC-A3DF-11E03AE5B322}"/>
              </a:ext>
            </a:extLst>
          </p:cNvPr>
          <p:cNvSpPr>
            <a:spLocks xmlns:a="http://schemas.openxmlformats.org/drawingml/2006/main" noGrp="1"/>
          </p:cNvSpPr>
          <p:nvPr/>
        </p:nvSpPr>
        <p:spPr>
          <a:xfrm xmlns:a="http://schemas.openxmlformats.org/drawingml/2006/main">
            <a:off x="666750" y="47625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966E1142-6684-4204-817D-8961C26C4CE4}"/>
              </a:ext>
            </a:extLst>
          </p:cNvPr>
          <p:cNvSpPr>
            <a:spLocks xmlns:a="http://schemas.openxmlformats.org/drawingml/2006/main" noGrp="1"/>
          </p:cNvSpPr>
          <p:nvPr/>
        </p:nvSpPr>
        <p:spPr>
          <a:xfrm xmlns:a="http://schemas.openxmlformats.org/drawingml/2006/main">
            <a:off x="666750" y="56292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D7E5F3"/>
                </a:solidFill>
                <a:latin typeface="Arial"/>
                <a:ea typeface="Arial"/>
                <a:cs typeface="Arial"/>
              </a:defRPr>
            </a:pPr>
            <a:r>
              <a:rPr sz="1650" b="0">
                <a:solidFill>
                  <a:srgbClr val="D7E5F3"/>
                </a:solidFill>
                <a:latin typeface="Arial"/>
                <a:ea typeface="Arial"/>
                <a:cs typeface="Arial"/>
              </a:rPr>
              <a:t>Thank you</a:t>
            </a:r>
          </a:p>
        </p:txBody>
      </p:sp>
    </p:spTree>
    <p:extLst>
      <p:ext uri="{BB962C8B-B14F-4D97-AF65-F5344CB8AC3E}">
        <p14:creationId xmlns:p14="http://schemas.microsoft.com/office/powerpoint/2010/main" val="18688668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2026-07-25T05:54:32.2080000Z</dcterms:created>
  <dcterms:modified xsi:type="dcterms:W3CDTF">2026-07-25T05:54:32.2080000Z</dcterms:modified>
</coreProperties>
</file>